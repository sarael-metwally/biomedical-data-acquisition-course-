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4"/>
  </p:notesMasterIdLst>
  <p:sldIdLst>
    <p:sldId id="312" r:id="rId2"/>
    <p:sldId id="313" r:id="rId3"/>
    <p:sldId id="378" r:id="rId4"/>
    <p:sldId id="380" r:id="rId5"/>
    <p:sldId id="381" r:id="rId6"/>
    <p:sldId id="382" r:id="rId7"/>
    <p:sldId id="383" r:id="rId8"/>
    <p:sldId id="384" r:id="rId9"/>
    <p:sldId id="385" r:id="rId10"/>
    <p:sldId id="386" r:id="rId11"/>
    <p:sldId id="387" r:id="rId12"/>
    <p:sldId id="388" r:id="rId13"/>
    <p:sldId id="389" r:id="rId14"/>
    <p:sldId id="390" r:id="rId15"/>
    <p:sldId id="391" r:id="rId16"/>
    <p:sldId id="392" r:id="rId17"/>
    <p:sldId id="393" r:id="rId18"/>
    <p:sldId id="394" r:id="rId19"/>
    <p:sldId id="395" r:id="rId20"/>
    <p:sldId id="396" r:id="rId21"/>
    <p:sldId id="397" r:id="rId22"/>
    <p:sldId id="377" r:id="rId23"/>
  </p:sldIdLst>
  <p:sldSz cx="9144000" cy="5143500" type="screen16x9"/>
  <p:notesSz cx="6858000" cy="9144000"/>
  <p:embeddedFontLst>
    <p:embeddedFont>
      <p:font typeface="Inter Tight" charset="0"/>
      <p:regular r:id="rId25"/>
      <p:bold r:id="rId26"/>
      <p:italic r:id="rId27"/>
      <p:boldItalic r:id="rId28"/>
    </p:embeddedFont>
    <p:embeddedFont>
      <p:font typeface="Raleway Medium"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FA629DB5-9736-4D24-9571-27663E2830E8}">
  <a:tblStyle styleId="{FA629DB5-9736-4D24-9571-27663E2830E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E1B8E7D-3443-43C5-BCC8-846303D2171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40" autoAdjust="0"/>
    <p:restoredTop sz="85842" autoAdjust="0"/>
  </p:normalViewPr>
  <p:slideViewPr>
    <p:cSldViewPr snapToGrid="0">
      <p:cViewPr varScale="1">
        <p:scale>
          <a:sx n="83" d="100"/>
          <a:sy n="83" d="100"/>
        </p:scale>
        <p:origin x="-936" y="-84"/>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xmlns="" val="3211713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xmlns="" val="959775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3377388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https://www.dreamstime.com/royalty-free-stock-photo-normal-brain-waves-eeg-image29444815</a:t>
            </a:r>
          </a:p>
          <a:p>
            <a:endParaRPr lang="en-US" dirty="0"/>
          </a:p>
        </p:txBody>
      </p:sp>
    </p:spTree>
    <p:extLst>
      <p:ext uri="{BB962C8B-B14F-4D97-AF65-F5344CB8AC3E}">
        <p14:creationId xmlns:p14="http://schemas.microsoft.com/office/powerpoint/2010/main" xmlns="" val="1969167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https://www.youtube.com/watch?v=HD58ueZDB-k</a:t>
            </a:r>
          </a:p>
          <a:p>
            <a:r>
              <a:rPr lang="en-US" dirty="0" smtClean="0"/>
              <a:t>https://www.youtube.com/playlist?list=PLtSlQVGgUYAFVMnJBAtzNsU_2mQcXqOwx</a:t>
            </a:r>
          </a:p>
          <a:p>
            <a:endParaRPr lang="en-US" dirty="0"/>
          </a:p>
        </p:txBody>
      </p:sp>
    </p:spTree>
    <p:extLst>
      <p:ext uri="{BB962C8B-B14F-4D97-AF65-F5344CB8AC3E}">
        <p14:creationId xmlns:p14="http://schemas.microsoft.com/office/powerpoint/2010/main" xmlns="" val="167228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https://www.crowdsupply.com/upside-down-labs/bioamp-exg-pill</a:t>
            </a:r>
          </a:p>
          <a:p>
            <a:r>
              <a:rPr lang="en-US" dirty="0" smtClean="0"/>
              <a:t>https://www.crowdsupply.com/upside-down-labs/bioamp-exg-pill</a:t>
            </a:r>
          </a:p>
          <a:p>
            <a:r>
              <a:rPr lang="en-US" dirty="0" smtClean="0"/>
              <a:t>https://github.com/upsidedownlabs/BioAmp-EXG-Pill</a:t>
            </a:r>
          </a:p>
          <a:p>
            <a:endParaRPr lang="en-US" dirty="0"/>
          </a:p>
        </p:txBody>
      </p:sp>
    </p:spTree>
    <p:extLst>
      <p:ext uri="{BB962C8B-B14F-4D97-AF65-F5344CB8AC3E}">
        <p14:creationId xmlns:p14="http://schemas.microsoft.com/office/powerpoint/2010/main" xmlns="" val="694319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https://github.com/upsidedownlabs/BioAmp-EXG-Pill</a:t>
            </a:r>
          </a:p>
          <a:p>
            <a:r>
              <a:rPr lang="en-US" dirty="0" smtClean="0"/>
              <a:t>https://www.youtube.com/watch?v=qrb8LeRfkP4</a:t>
            </a:r>
          </a:p>
          <a:p>
            <a:endParaRPr lang="en-US" dirty="0"/>
          </a:p>
        </p:txBody>
      </p:sp>
    </p:spTree>
    <p:extLst>
      <p:ext uri="{BB962C8B-B14F-4D97-AF65-F5344CB8AC3E}">
        <p14:creationId xmlns:p14="http://schemas.microsoft.com/office/powerpoint/2010/main" xmlns="" val="1707842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How many cycles</a:t>
            </a:r>
            <a:r>
              <a:rPr lang="en-US" baseline="0" dirty="0" smtClean="0"/>
              <a:t> activity has in a second. </a:t>
            </a:r>
          </a:p>
          <a:p>
            <a:r>
              <a:rPr lang="en-US" baseline="0" dirty="0" smtClean="0"/>
              <a:t>How waveform looks spike, sharp, duration of the wave microseconds</a:t>
            </a:r>
          </a:p>
          <a:p>
            <a:r>
              <a:rPr lang="en-US" baseline="0" dirty="0" smtClean="0"/>
              <a:t>Amplitude = height of the wave in microvolt.  </a:t>
            </a:r>
          </a:p>
        </p:txBody>
      </p:sp>
    </p:spTree>
    <p:extLst>
      <p:ext uri="{BB962C8B-B14F-4D97-AF65-F5344CB8AC3E}">
        <p14:creationId xmlns:p14="http://schemas.microsoft.com/office/powerpoint/2010/main" xmlns="" val="3237869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898850"/>
            <a:ext cx="4528800" cy="2502900"/>
          </a:xfrm>
          <a:prstGeom prst="rect">
            <a:avLst/>
          </a:prstGeom>
        </p:spPr>
        <p:txBody>
          <a:bodyPr spcFirstLastPara="1" wrap="square" lIns="91425" tIns="91425" rIns="91425" bIns="91425" anchor="b" anchorCtr="0">
            <a:noAutofit/>
          </a:bodyPr>
          <a:lstStyle>
            <a:lvl1pPr lvl="0" algn="l">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747175"/>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785050"/>
            <a:ext cx="3938400" cy="916500"/>
          </a:xfrm>
          <a:prstGeom prst="rect">
            <a:avLst/>
          </a:prstGeom>
        </p:spPr>
        <p:txBody>
          <a:bodyPr spcFirstLastPara="1" wrap="square" lIns="91425" tIns="91425" rIns="91425" bIns="91425" anchor="t" anchorCtr="0">
            <a:noAutofit/>
          </a:bodyPr>
          <a:lstStyle>
            <a:lvl1pPr lvl="0" algn="l">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307150"/>
            <a:ext cx="1122900" cy="11229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5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14" name="Google Shape;14;p3"/>
          <p:cNvGrpSpPr/>
          <p:nvPr/>
        </p:nvGrpSpPr>
        <p:grpSpPr>
          <a:xfrm>
            <a:off x="262800" y="258750"/>
            <a:ext cx="8618400" cy="4664400"/>
            <a:chOff x="262800" y="258750"/>
            <a:chExt cx="8618400" cy="4664400"/>
          </a:xfrm>
        </p:grpSpPr>
        <p:sp>
          <p:nvSpPr>
            <p:cNvPr id="15" name="Google Shape;15;p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19" name="Google Shape;19;p4"/>
          <p:cNvSpPr txBox="1">
            <a:spLocks noGrp="1"/>
          </p:cNvSpPr>
          <p:nvPr>
            <p:ph type="body" idx="1"/>
          </p:nvPr>
        </p:nvSpPr>
        <p:spPr>
          <a:xfrm>
            <a:off x="720000" y="1215751"/>
            <a:ext cx="7704000" cy="4059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0" name="Google Shape;20;p4"/>
          <p:cNvGrpSpPr/>
          <p:nvPr/>
        </p:nvGrpSpPr>
        <p:grpSpPr>
          <a:xfrm>
            <a:off x="0" y="224200"/>
            <a:ext cx="9144000" cy="4660550"/>
            <a:chOff x="0" y="224200"/>
            <a:chExt cx="9144000" cy="4660550"/>
          </a:xfrm>
        </p:grpSpPr>
        <p:cxnSp>
          <p:nvCxnSpPr>
            <p:cNvPr id="21" name="Google Shape;21;p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2" name="Google Shape;22;p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3" name="Google Shape;23;p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9"/>
        <p:cNvGrpSpPr/>
        <p:nvPr/>
      </p:nvGrpSpPr>
      <p:grpSpPr>
        <a:xfrm>
          <a:off x="0" y="0"/>
          <a:ext cx="0" cy="0"/>
          <a:chOff x="0" y="0"/>
          <a:chExt cx="0" cy="0"/>
        </a:xfrm>
      </p:grpSpPr>
      <p:grpSp>
        <p:nvGrpSpPr>
          <p:cNvPr id="240" name="Google Shape;240;p33"/>
          <p:cNvGrpSpPr/>
          <p:nvPr/>
        </p:nvGrpSpPr>
        <p:grpSpPr>
          <a:xfrm>
            <a:off x="262800" y="258750"/>
            <a:ext cx="8618400" cy="4664400"/>
            <a:chOff x="262800" y="258750"/>
            <a:chExt cx="8618400" cy="4664400"/>
          </a:xfrm>
        </p:grpSpPr>
        <p:sp>
          <p:nvSpPr>
            <p:cNvPr id="241" name="Google Shape;241;p33"/>
            <p:cNvSpPr/>
            <p:nvPr/>
          </p:nvSpPr>
          <p:spPr>
            <a:xfrm>
              <a:off x="262800" y="258750"/>
              <a:ext cx="8618400" cy="4626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3"/>
            <p:cNvSpPr/>
            <p:nvPr/>
          </p:nvSpPr>
          <p:spPr>
            <a:xfrm>
              <a:off x="713225" y="484635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3"/>
        <p:cNvGrpSpPr/>
        <p:nvPr/>
      </p:nvGrpSpPr>
      <p:grpSpPr>
        <a:xfrm>
          <a:off x="0" y="0"/>
          <a:ext cx="0" cy="0"/>
          <a:chOff x="0" y="0"/>
          <a:chExt cx="0" cy="0"/>
        </a:xfrm>
      </p:grpSpPr>
      <p:grpSp>
        <p:nvGrpSpPr>
          <p:cNvPr id="244" name="Google Shape;244;p34"/>
          <p:cNvGrpSpPr/>
          <p:nvPr/>
        </p:nvGrpSpPr>
        <p:grpSpPr>
          <a:xfrm>
            <a:off x="0" y="224200"/>
            <a:ext cx="9144000" cy="4660550"/>
            <a:chOff x="0" y="224200"/>
            <a:chExt cx="9144000" cy="4660550"/>
          </a:xfrm>
        </p:grpSpPr>
        <p:cxnSp>
          <p:nvCxnSpPr>
            <p:cNvPr id="245" name="Google Shape;245;p34"/>
            <p:cNvCxnSpPr/>
            <p:nvPr/>
          </p:nvCxnSpPr>
          <p:spPr>
            <a:xfrm>
              <a:off x="0" y="262600"/>
              <a:ext cx="9144000" cy="0"/>
            </a:xfrm>
            <a:prstGeom prst="straightConnector1">
              <a:avLst/>
            </a:prstGeom>
            <a:noFill/>
            <a:ln w="9525" cap="flat" cmpd="sng">
              <a:solidFill>
                <a:schemeClr val="dk1"/>
              </a:solidFill>
              <a:prstDash val="solid"/>
              <a:round/>
              <a:headEnd type="none" w="med" len="med"/>
              <a:tailEnd type="none" w="med" len="med"/>
            </a:ln>
          </p:spPr>
        </p:cxnSp>
        <p:sp>
          <p:nvSpPr>
            <p:cNvPr id="246" name="Google Shape;246;p34"/>
            <p:cNvSpPr/>
            <p:nvPr/>
          </p:nvSpPr>
          <p:spPr>
            <a:xfrm>
              <a:off x="7408800" y="224200"/>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247" name="Google Shape;247;p34"/>
            <p:cNvCxnSpPr/>
            <p:nvPr/>
          </p:nvCxnSpPr>
          <p:spPr>
            <a:xfrm>
              <a:off x="0" y="4884750"/>
              <a:ext cx="9144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200"/>
              <a:buFont typeface="Inter Tight"/>
              <a:buNone/>
              <a:defRPr sz="3200" b="1">
                <a:solidFill>
                  <a:schemeClr val="dk1"/>
                </a:solidFill>
                <a:latin typeface="Inter Tight"/>
                <a:ea typeface="Inter Tight"/>
                <a:cs typeface="Inter Tight"/>
                <a:sym typeface="Inter Tight"/>
              </a:defRPr>
            </a:lvl1pPr>
            <a:lvl2pPr lvl="1"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2pPr>
            <a:lvl3pPr lvl="2"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3pPr>
            <a:lvl4pPr lvl="3"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4pPr>
            <a:lvl5pPr lvl="4"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5pPr>
            <a:lvl6pPr lvl="5"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6pPr>
            <a:lvl7pPr lvl="6"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7pPr>
            <a:lvl8pPr lvl="7"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8pPr>
            <a:lvl9pPr lvl="8" algn="ctr" rtl="0">
              <a:spcBef>
                <a:spcPts val="0"/>
              </a:spcBef>
              <a:spcAft>
                <a:spcPts val="0"/>
              </a:spcAft>
              <a:buClr>
                <a:schemeClr val="dk1"/>
              </a:buClr>
              <a:buSzPts val="3700"/>
              <a:buFont typeface="Inter Tight"/>
              <a:buNone/>
              <a:defRPr sz="3700" b="1">
                <a:solidFill>
                  <a:schemeClr val="dk1"/>
                </a:solidFill>
                <a:latin typeface="Inter Tight"/>
                <a:ea typeface="Inter Tight"/>
                <a:cs typeface="Inter Tight"/>
                <a:sym typeface="Inter Tigh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1pPr>
            <a:lvl2pPr marL="914400" lvl="1"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2pPr>
            <a:lvl3pPr marL="1371600" lvl="2"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3pPr>
            <a:lvl4pPr marL="1828800" lvl="3"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4pPr>
            <a:lvl5pPr marL="2286000" lvl="4"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5pPr>
            <a:lvl6pPr marL="2743200" lvl="5"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6pPr>
            <a:lvl7pPr marL="3200400" lvl="6"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7pPr>
            <a:lvl8pPr marL="3657600" lvl="7"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8pPr>
            <a:lvl9pPr marL="4114800" lvl="8" indent="-304800">
              <a:lnSpc>
                <a:spcPct val="100000"/>
              </a:lnSpc>
              <a:spcBef>
                <a:spcPts val="0"/>
              </a:spcBef>
              <a:spcAft>
                <a:spcPts val="0"/>
              </a:spcAft>
              <a:buClr>
                <a:schemeClr val="dk1"/>
              </a:buClr>
              <a:buSzPts val="1200"/>
              <a:buFont typeface="Raleway Medium"/>
              <a:buChar char="■"/>
              <a:defRPr sz="1200">
                <a:solidFill>
                  <a:schemeClr val="dk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upsidedownlabs/BioAmp-EXG-Pill"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code/ruslankl/eeg-data-analysis#1.-Project-Overview"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www.kaggle.com/competitions/grasp-and-lift-eeg-detection" TargetMode="External"/><Relationship Id="rId5" Type="http://schemas.openxmlformats.org/officeDocument/2006/relationships/hyperlink" Target="https://www.kaggle.com/datasets/robikscube/eye-state-classification-eeg-dataset" TargetMode="External"/><Relationship Id="rId4" Type="http://schemas.openxmlformats.org/officeDocument/2006/relationships/hyperlink" Target="https://www.kaggle.com/code/gcdatkin/eeg-emotion-prediction/notebook"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kaggle.com/datasets/shashwatwork/eeg-psychiatric-disorders-dataset" TargetMode="External"/><Relationship Id="rId2" Type="http://schemas.openxmlformats.org/officeDocument/2006/relationships/hyperlink" Target="https://www.kaggle.com/code/shreyaspj/confused-student-eeg-prediction" TargetMode="External"/><Relationship Id="rId1" Type="http://schemas.openxmlformats.org/officeDocument/2006/relationships/slideLayout" Target="../slideLayouts/slideLayout3.xml"/><Relationship Id="rId5" Type="http://schemas.openxmlformats.org/officeDocument/2006/relationships/hyperlink" Target="https://www.kaggle.com/code/owaiskhan9654/training-of-eeg-schizophrenia-disorder-using-cnn" TargetMode="External"/><Relationship Id="rId4" Type="http://schemas.openxmlformats.org/officeDocument/2006/relationships/hyperlink" Target="https://www.kaggle.com/datasets/broach/button-tone-sz"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38"/>
          <p:cNvSpPr txBox="1">
            <a:spLocks noGrp="1"/>
          </p:cNvSpPr>
          <p:nvPr>
            <p:ph type="ctrTitle"/>
          </p:nvPr>
        </p:nvSpPr>
        <p:spPr>
          <a:xfrm>
            <a:off x="979740" y="1808015"/>
            <a:ext cx="7206497" cy="722844"/>
          </a:xfrm>
          <a:prstGeom prst="rect">
            <a:avLst/>
          </a:prstGeom>
        </p:spPr>
        <p:txBody>
          <a:bodyPr spcFirstLastPara="1" wrap="square" lIns="91425" tIns="91425" rIns="91425" bIns="91425" anchor="b" anchorCtr="0">
            <a:noAutofit/>
          </a:bodyPr>
          <a:lstStyle/>
          <a:p>
            <a:pPr lvl="0" algn="ctr"/>
            <a:r>
              <a:rPr lang="en" sz="2800" dirty="0" smtClean="0"/>
              <a:t>Biomedical Data </a:t>
            </a:r>
            <a:r>
              <a:rPr lang="en-US" sz="2800" dirty="0"/>
              <a:t>Acquisition </a:t>
            </a:r>
            <a:r>
              <a:rPr lang="en-US" sz="2800" dirty="0" smtClean="0"/>
              <a:t>Course (</a:t>
            </a:r>
            <a:r>
              <a:rPr lang="en-US" sz="2800" dirty="0" smtClean="0">
                <a:solidFill>
                  <a:srgbClr val="FF0000"/>
                </a:solidFill>
              </a:rPr>
              <a:t>BMD351</a:t>
            </a:r>
            <a:r>
              <a:rPr lang="en-US" sz="2800" dirty="0" smtClean="0"/>
              <a:t>)</a:t>
            </a:r>
            <a:endParaRPr sz="2800" dirty="0"/>
          </a:p>
        </p:txBody>
      </p:sp>
      <p:sp>
        <p:nvSpPr>
          <p:cNvPr id="260" name="Google Shape;260;p38"/>
          <p:cNvSpPr txBox="1">
            <a:spLocks noGrp="1"/>
          </p:cNvSpPr>
          <p:nvPr>
            <p:ph type="subTitle" idx="1"/>
          </p:nvPr>
        </p:nvSpPr>
        <p:spPr>
          <a:xfrm>
            <a:off x="3069151" y="3320263"/>
            <a:ext cx="45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Sara El-Sayed El-Metwally, </a:t>
            </a:r>
          </a:p>
          <a:p>
            <a:pPr marL="0" lvl="0" indent="0" algn="l" rtl="0">
              <a:spcBef>
                <a:spcPts val="0"/>
              </a:spcBef>
              <a:spcAft>
                <a:spcPts val="0"/>
              </a:spcAft>
              <a:buNone/>
            </a:pPr>
            <a:r>
              <a:rPr lang="en" dirty="0" smtClean="0"/>
              <a:t>Associate Professor, </a:t>
            </a:r>
          </a:p>
          <a:p>
            <a:pPr marL="0" lvl="0" indent="0" algn="l" rtl="0">
              <a:spcBef>
                <a:spcPts val="0"/>
              </a:spcBef>
              <a:spcAft>
                <a:spcPts val="0"/>
              </a:spcAft>
              <a:buNone/>
            </a:pPr>
            <a:r>
              <a:rPr lang="en" dirty="0" smtClean="0"/>
              <a:t>Biomedical Informatics Department. </a:t>
            </a:r>
            <a:endParaRPr dirty="0"/>
          </a:p>
        </p:txBody>
      </p:sp>
      <p:cxnSp>
        <p:nvCxnSpPr>
          <p:cNvPr id="262" name="Google Shape;262;p38"/>
          <p:cNvCxnSpPr/>
          <p:nvPr/>
        </p:nvCxnSpPr>
        <p:spPr>
          <a:xfrm>
            <a:off x="2355926" y="3101488"/>
            <a:ext cx="4559400" cy="0"/>
          </a:xfrm>
          <a:prstGeom prst="straightConnector1">
            <a:avLst/>
          </a:prstGeom>
          <a:noFill/>
          <a:ln w="9525" cap="flat" cmpd="sng">
            <a:solidFill>
              <a:schemeClr val="dk1"/>
            </a:solidFill>
            <a:prstDash val="solid"/>
            <a:round/>
            <a:headEnd type="none" w="med" len="med"/>
            <a:tailEnd type="none" w="med" len="med"/>
          </a:ln>
        </p:spPr>
      </p:cxnSp>
      <p:sp>
        <p:nvSpPr>
          <p:cNvPr id="265" name="Google Shape;265;p38"/>
          <p:cNvSpPr/>
          <p:nvPr/>
        </p:nvSpPr>
        <p:spPr>
          <a:xfrm>
            <a:off x="3177976" y="3063088"/>
            <a:ext cx="1022100" cy="76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Google Shape;299;p41"/>
          <p:cNvPicPr preferRelativeResize="0"/>
          <p:nvPr/>
        </p:nvPicPr>
        <p:blipFill rotWithShape="1">
          <a:blip r:embed="rId3">
            <a:alphaModFix/>
          </a:blip>
          <a:srcRect t="89" b="89"/>
          <a:stretch/>
        </p:blipFill>
        <p:spPr>
          <a:xfrm>
            <a:off x="130877" y="2064375"/>
            <a:ext cx="1578599" cy="3079125"/>
          </a:xfrm>
          <a:prstGeom prst="rect">
            <a:avLst/>
          </a:prstGeom>
          <a:noFill/>
          <a:ln>
            <a:noFill/>
          </a:ln>
        </p:spPr>
      </p:pic>
      <p:pic>
        <p:nvPicPr>
          <p:cNvPr id="11" name="Google Shape;326;p44"/>
          <p:cNvPicPr preferRelativeResize="0"/>
          <p:nvPr/>
        </p:nvPicPr>
        <p:blipFill rotWithShape="1">
          <a:blip r:embed="rId4">
            <a:alphaModFix/>
          </a:blip>
          <a:srcRect t="119" b="129"/>
          <a:stretch/>
        </p:blipFill>
        <p:spPr>
          <a:xfrm>
            <a:off x="1723551" y="3301750"/>
            <a:ext cx="1264750" cy="1841750"/>
          </a:xfrm>
          <a:prstGeom prst="rect">
            <a:avLst/>
          </a:prstGeom>
          <a:noFill/>
          <a:ln>
            <a:noFill/>
          </a:ln>
        </p:spPr>
      </p:pic>
      <p:pic>
        <p:nvPicPr>
          <p:cNvPr id="12" name="Google Shape;309;p42"/>
          <p:cNvPicPr preferRelativeResize="0"/>
          <p:nvPr/>
        </p:nvPicPr>
        <p:blipFill rotWithShape="1">
          <a:blip r:embed="rId5">
            <a:alphaModFix/>
          </a:blip>
          <a:srcRect t="39" b="39"/>
          <a:stretch/>
        </p:blipFill>
        <p:spPr>
          <a:xfrm>
            <a:off x="6096826" y="2373348"/>
            <a:ext cx="2969625" cy="2671374"/>
          </a:xfrm>
          <a:prstGeom prst="rect">
            <a:avLst/>
          </a:prstGeom>
          <a:noFill/>
          <a:ln>
            <a:noFill/>
          </a:ln>
        </p:spPr>
      </p:pic>
      <p:pic>
        <p:nvPicPr>
          <p:cNvPr id="14" name="Picture 13"/>
          <p:cNvPicPr>
            <a:picLocks noChangeAspect="1"/>
          </p:cNvPicPr>
          <p:nvPr/>
        </p:nvPicPr>
        <p:blipFill>
          <a:blip r:embed="rId6">
            <a:clrChange>
              <a:clrFrom>
                <a:srgbClr val="FFFFFF"/>
              </a:clrFrom>
              <a:clrTo>
                <a:srgbClr val="FFFFFF">
                  <a:alpha val="0"/>
                </a:srgbClr>
              </a:clrTo>
            </a:clrChange>
          </a:blip>
          <a:stretch>
            <a:fillRect/>
          </a:stretch>
        </p:blipFill>
        <p:spPr>
          <a:xfrm>
            <a:off x="130877" y="266427"/>
            <a:ext cx="1095144" cy="1049156"/>
          </a:xfrm>
          <a:prstGeom prst="rect">
            <a:avLst/>
          </a:prstGeom>
        </p:spPr>
      </p:pic>
      <p:pic>
        <p:nvPicPr>
          <p:cNvPr id="15" name="Picture 14"/>
          <p:cNvPicPr>
            <a:picLocks noChangeAspect="1"/>
          </p:cNvPicPr>
          <p:nvPr/>
        </p:nvPicPr>
        <p:blipFill>
          <a:blip r:embed="rId7">
            <a:clrChange>
              <a:clrFrom>
                <a:srgbClr val="FFFFFF"/>
              </a:clrFrom>
              <a:clrTo>
                <a:srgbClr val="FFFFFF">
                  <a:alpha val="0"/>
                </a:srgbClr>
              </a:clrTo>
            </a:clrChange>
          </a:blip>
          <a:stretch>
            <a:fillRect/>
          </a:stretch>
        </p:blipFill>
        <p:spPr>
          <a:xfrm>
            <a:off x="7838199" y="226630"/>
            <a:ext cx="1135128" cy="1065007"/>
          </a:xfrm>
          <a:prstGeom prst="rect">
            <a:avLst/>
          </a:prstGeom>
        </p:spPr>
      </p:pic>
    </p:spTree>
    <p:extLst>
      <p:ext uri="{BB962C8B-B14F-4D97-AF65-F5344CB8AC3E}">
        <p14:creationId xmlns:p14="http://schemas.microsoft.com/office/powerpoint/2010/main" xmlns="" val="24074158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a:spLocks noGrp="1"/>
          </p:cNvSpPr>
          <p:nvPr>
            <p:ph type="title"/>
          </p:nvPr>
        </p:nvSpPr>
        <p:spPr>
          <a:xfrm>
            <a:off x="713225" y="2785050"/>
            <a:ext cx="4373260" cy="91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dirty="0" smtClean="0"/>
              <a:t>Biomedical Signals</a:t>
            </a:r>
            <a:endParaRPr sz="4400" dirty="0"/>
          </a:p>
        </p:txBody>
      </p:sp>
      <p:sp>
        <p:nvSpPr>
          <p:cNvPr id="307" name="Google Shape;307;p42"/>
          <p:cNvSpPr txBox="1">
            <a:spLocks noGrp="1"/>
          </p:cNvSpPr>
          <p:nvPr>
            <p:ph type="title" idx="2"/>
          </p:nvPr>
        </p:nvSpPr>
        <p:spPr>
          <a:xfrm>
            <a:off x="713225" y="1307150"/>
            <a:ext cx="1122900" cy="112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t>02</a:t>
            </a:r>
            <a:endParaRPr dirty="0"/>
          </a:p>
        </p:txBody>
      </p:sp>
      <p:pic>
        <p:nvPicPr>
          <p:cNvPr id="310" name="Google Shape;310;p42"/>
          <p:cNvPicPr preferRelativeResize="0"/>
          <p:nvPr/>
        </p:nvPicPr>
        <p:blipFill rotWithShape="1">
          <a:blip r:embed="rId3">
            <a:alphaModFix/>
          </a:blip>
          <a:srcRect t="39" b="29"/>
          <a:stretch/>
        </p:blipFill>
        <p:spPr>
          <a:xfrm>
            <a:off x="5324953" y="581757"/>
            <a:ext cx="972850" cy="2942098"/>
          </a:xfrm>
          <a:prstGeom prst="rect">
            <a:avLst/>
          </a:prstGeom>
          <a:noFill/>
          <a:ln>
            <a:noFill/>
          </a:ln>
        </p:spPr>
      </p:pic>
      <p:pic>
        <p:nvPicPr>
          <p:cNvPr id="7" name="Google Shape;261;p38"/>
          <p:cNvPicPr preferRelativeResize="0"/>
          <p:nvPr/>
        </p:nvPicPr>
        <p:blipFill rotWithShape="1">
          <a:blip r:embed="rId4">
            <a:alphaModFix/>
          </a:blip>
          <a:srcRect t="39" b="39"/>
          <a:stretch/>
        </p:blipFill>
        <p:spPr>
          <a:xfrm>
            <a:off x="6229096" y="2684928"/>
            <a:ext cx="1935357" cy="2033243"/>
          </a:xfrm>
          <a:prstGeom prst="rect">
            <a:avLst/>
          </a:prstGeom>
          <a:noFill/>
          <a:ln>
            <a:noFill/>
          </a:ln>
        </p:spPr>
      </p:pic>
      <p:pic>
        <p:nvPicPr>
          <p:cNvPr id="8" name="Google Shape;618;p66"/>
          <p:cNvPicPr preferRelativeResize="0"/>
          <p:nvPr/>
        </p:nvPicPr>
        <p:blipFill rotWithShape="1">
          <a:blip r:embed="rId5">
            <a:alphaModFix/>
          </a:blip>
          <a:srcRect t="69" b="79"/>
          <a:stretch/>
        </p:blipFill>
        <p:spPr>
          <a:xfrm>
            <a:off x="6536271" y="386900"/>
            <a:ext cx="2045900" cy="2398150"/>
          </a:xfrm>
          <a:prstGeom prst="rect">
            <a:avLst/>
          </a:prstGeom>
          <a:noFill/>
          <a:ln>
            <a:noFill/>
          </a:ln>
        </p:spPr>
      </p:pic>
    </p:spTree>
    <p:extLst>
      <p:ext uri="{BB962C8B-B14F-4D97-AF65-F5344CB8AC3E}">
        <p14:creationId xmlns:p14="http://schemas.microsoft.com/office/powerpoint/2010/main" xmlns="" val="2204422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24" y="2785050"/>
            <a:ext cx="6383612" cy="916500"/>
          </a:xfrm>
        </p:spPr>
        <p:txBody>
          <a:bodyPr/>
          <a:lstStyle/>
          <a:p>
            <a:r>
              <a:rPr lang="en-US" dirty="0" smtClean="0"/>
              <a:t>Brain Signals cont. </a:t>
            </a:r>
            <a:endParaRPr lang="en-US" dirty="0"/>
          </a:p>
        </p:txBody>
      </p:sp>
      <p:sp>
        <p:nvSpPr>
          <p:cNvPr id="3" name="Title 2"/>
          <p:cNvSpPr>
            <a:spLocks noGrp="1"/>
          </p:cNvSpPr>
          <p:nvPr>
            <p:ph type="title" idx="2"/>
          </p:nvPr>
        </p:nvSpPr>
        <p:spPr>
          <a:xfrm>
            <a:off x="713224" y="1307150"/>
            <a:ext cx="1675133" cy="1122900"/>
          </a:xfrm>
        </p:spPr>
        <p:txBody>
          <a:bodyPr/>
          <a:lstStyle/>
          <a:p>
            <a:r>
              <a:rPr lang="en-US" dirty="0" smtClean="0"/>
              <a:t>EEG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dirty="0"/>
              <a:t>EEG activity can be broken down into 4 distinct frequency bands</a:t>
            </a:r>
            <a:r>
              <a:rPr lang="en-US" dirty="0" smtClean="0"/>
              <a:t>:</a:t>
            </a:r>
          </a:p>
          <a:p>
            <a:pPr lvl="1"/>
            <a:r>
              <a:rPr lang="en-US" dirty="0"/>
              <a:t>Beta activity &gt; 13 Hz</a:t>
            </a:r>
          </a:p>
          <a:p>
            <a:pPr lvl="1"/>
            <a:r>
              <a:rPr lang="en-US" dirty="0"/>
              <a:t>Alpha activity 8 Hz-13 Hz</a:t>
            </a:r>
          </a:p>
          <a:p>
            <a:pPr lvl="1"/>
            <a:r>
              <a:rPr lang="en-US" dirty="0"/>
              <a:t>Theta activity 4 Hz-7 Hz</a:t>
            </a:r>
          </a:p>
          <a:p>
            <a:pPr lvl="1"/>
            <a:r>
              <a:rPr lang="en-US" dirty="0"/>
              <a:t>Delta activity &lt; 4 </a:t>
            </a:r>
            <a:r>
              <a:rPr lang="en-US" dirty="0" smtClean="0"/>
              <a:t>Hz</a:t>
            </a:r>
          </a:p>
          <a:p>
            <a:r>
              <a:rPr lang="en-US" dirty="0"/>
              <a:t>Beta activity is a normal activity present when the eyes are open or closed. It tends to be seen in the channels recorded from the centre or front of the head. Some drugs will increase the amount of beta activity in the EEG.</a:t>
            </a:r>
          </a:p>
        </p:txBody>
      </p:sp>
      <p:pic>
        <p:nvPicPr>
          <p:cNvPr id="5" name="Picture 4"/>
          <p:cNvPicPr>
            <a:picLocks noChangeAspect="1"/>
          </p:cNvPicPr>
          <p:nvPr/>
        </p:nvPicPr>
        <p:blipFill>
          <a:blip r:embed="rId2"/>
          <a:stretch>
            <a:fillRect/>
          </a:stretch>
        </p:blipFill>
        <p:spPr>
          <a:xfrm>
            <a:off x="3100387" y="3053603"/>
            <a:ext cx="2943225" cy="838200"/>
          </a:xfrm>
          <a:prstGeom prst="rect">
            <a:avLst/>
          </a:prstGeom>
        </p:spPr>
      </p:pic>
    </p:spTree>
    <p:extLst>
      <p:ext uri="{BB962C8B-B14F-4D97-AF65-F5344CB8AC3E}">
        <p14:creationId xmlns:p14="http://schemas.microsoft.com/office/powerpoint/2010/main" xmlns="" val="34860508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b="1" dirty="0"/>
              <a:t>Alpha activity</a:t>
            </a:r>
            <a:r>
              <a:rPr lang="en-US" dirty="0"/>
              <a:t> is also a normal activity when present in waking adults. It is mainly seen in the channels recorded from the back of the head. It is fairly symmetrical and has an amplitude of 40 µV to 100 µV. It is only seen when the eyes are closed and should disappear or reduce in amplitude when the eyes are open.</a:t>
            </a:r>
          </a:p>
        </p:txBody>
      </p:sp>
      <p:pic>
        <p:nvPicPr>
          <p:cNvPr id="4" name="Picture 3"/>
          <p:cNvPicPr>
            <a:picLocks noChangeAspect="1"/>
          </p:cNvPicPr>
          <p:nvPr/>
        </p:nvPicPr>
        <p:blipFill>
          <a:blip r:embed="rId2"/>
          <a:stretch>
            <a:fillRect/>
          </a:stretch>
        </p:blipFill>
        <p:spPr>
          <a:xfrm>
            <a:off x="2861982" y="2459131"/>
            <a:ext cx="3124200" cy="1085850"/>
          </a:xfrm>
          <a:prstGeom prst="rect">
            <a:avLst/>
          </a:prstGeom>
        </p:spPr>
      </p:pic>
    </p:spTree>
    <p:extLst>
      <p:ext uri="{BB962C8B-B14F-4D97-AF65-F5344CB8AC3E}">
        <p14:creationId xmlns:p14="http://schemas.microsoft.com/office/powerpoint/2010/main" xmlns="" val="5190015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b="1" dirty="0"/>
              <a:t>Theta activity</a:t>
            </a:r>
            <a:r>
              <a:rPr lang="en-US" dirty="0"/>
              <a:t> can be classed as both a normal and abnormal activity depending on the age and state of the patient. In adults it is normal if the patient is drowsy. However it can also indicate brain dysfunction if it is seen in a patient who is alert and awake. In younger patients, theta activity may be the main activity seen in channels recorded from the back and central areas of the head.</a:t>
            </a:r>
          </a:p>
        </p:txBody>
      </p:sp>
      <p:pic>
        <p:nvPicPr>
          <p:cNvPr id="5" name="Picture 4"/>
          <p:cNvPicPr>
            <a:picLocks noChangeAspect="1"/>
          </p:cNvPicPr>
          <p:nvPr/>
        </p:nvPicPr>
        <p:blipFill>
          <a:blip r:embed="rId2"/>
          <a:stretch>
            <a:fillRect/>
          </a:stretch>
        </p:blipFill>
        <p:spPr>
          <a:xfrm>
            <a:off x="3119437" y="2354917"/>
            <a:ext cx="2905125" cy="971550"/>
          </a:xfrm>
          <a:prstGeom prst="rect">
            <a:avLst/>
          </a:prstGeom>
        </p:spPr>
      </p:pic>
    </p:spTree>
    <p:extLst>
      <p:ext uri="{BB962C8B-B14F-4D97-AF65-F5344CB8AC3E}">
        <p14:creationId xmlns:p14="http://schemas.microsoft.com/office/powerpoint/2010/main" xmlns="" val="13087840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b="1" dirty="0"/>
              <a:t>Delta activity</a:t>
            </a:r>
            <a:r>
              <a:rPr lang="en-US" dirty="0"/>
              <a:t> is only normal in an adult patient if they are in a moderate to deep sleep. If it is seen at any other time it would indicate brain dysfunction.</a:t>
            </a:r>
            <a:br>
              <a:rPr lang="en-US" dirty="0"/>
            </a:br>
            <a:r>
              <a:rPr lang="en-US" dirty="0"/>
              <a:t>Abnormal activity may be seen in all or some channels depending on the underlying brain problem.</a:t>
            </a:r>
          </a:p>
        </p:txBody>
      </p:sp>
      <p:pic>
        <p:nvPicPr>
          <p:cNvPr id="4" name="Picture 3"/>
          <p:cNvPicPr>
            <a:picLocks noChangeAspect="1"/>
          </p:cNvPicPr>
          <p:nvPr/>
        </p:nvPicPr>
        <p:blipFill>
          <a:blip r:embed="rId2"/>
          <a:stretch>
            <a:fillRect/>
          </a:stretch>
        </p:blipFill>
        <p:spPr>
          <a:xfrm>
            <a:off x="2895600" y="2166097"/>
            <a:ext cx="3352800" cy="838200"/>
          </a:xfrm>
          <a:prstGeom prst="rect">
            <a:avLst/>
          </a:prstGeom>
        </p:spPr>
      </p:pic>
    </p:spTree>
    <p:extLst>
      <p:ext uri="{BB962C8B-B14F-4D97-AF65-F5344CB8AC3E}">
        <p14:creationId xmlns:p14="http://schemas.microsoft.com/office/powerpoint/2010/main" xmlns="" val="4844095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b="1" dirty="0"/>
              <a:t>Delta activity</a:t>
            </a:r>
            <a:r>
              <a:rPr lang="en-US" dirty="0"/>
              <a:t> is only normal in an adult patient if they are in a moderate to deep sleep. If it is seen at any other time it would indicate brain dysfunction.</a:t>
            </a:r>
            <a:br>
              <a:rPr lang="en-US" dirty="0"/>
            </a:br>
            <a:r>
              <a:rPr lang="en-US" dirty="0"/>
              <a:t>Abnormal activity may be seen in all or some channels depending on the underlying brain problem.</a:t>
            </a:r>
          </a:p>
        </p:txBody>
      </p:sp>
      <p:pic>
        <p:nvPicPr>
          <p:cNvPr id="4" name="Picture 3"/>
          <p:cNvPicPr>
            <a:picLocks noChangeAspect="1"/>
          </p:cNvPicPr>
          <p:nvPr/>
        </p:nvPicPr>
        <p:blipFill>
          <a:blip r:embed="rId2"/>
          <a:stretch>
            <a:fillRect/>
          </a:stretch>
        </p:blipFill>
        <p:spPr>
          <a:xfrm>
            <a:off x="2895600" y="2166097"/>
            <a:ext cx="3352800" cy="838200"/>
          </a:xfrm>
          <a:prstGeom prst="rect">
            <a:avLst/>
          </a:prstGeom>
        </p:spPr>
      </p:pic>
    </p:spTree>
    <p:extLst>
      <p:ext uri="{BB962C8B-B14F-4D97-AF65-F5344CB8AC3E}">
        <p14:creationId xmlns:p14="http://schemas.microsoft.com/office/powerpoint/2010/main" xmlns="" val="23180437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Activity</a:t>
            </a:r>
            <a:br>
              <a:rPr lang="en-US" dirty="0"/>
            </a:br>
            <a:endParaRPr lang="en-US" dirty="0"/>
          </a:p>
        </p:txBody>
      </p:sp>
      <p:sp>
        <p:nvSpPr>
          <p:cNvPr id="3" name="Text Placeholder 2"/>
          <p:cNvSpPr>
            <a:spLocks noGrp="1"/>
          </p:cNvSpPr>
          <p:nvPr>
            <p:ph type="body" idx="1"/>
          </p:nvPr>
        </p:nvSpPr>
        <p:spPr/>
        <p:txBody>
          <a:bodyPr/>
          <a:lstStyle/>
          <a:p>
            <a:r>
              <a:rPr lang="en-US" dirty="0"/>
              <a:t>There are a number of other waveforms which tend to be a little more specific to certain conditions.</a:t>
            </a:r>
            <a:br>
              <a:rPr lang="en-US" dirty="0"/>
            </a:br>
            <a:r>
              <a:rPr lang="en-US" dirty="0"/>
              <a:t>For example </a:t>
            </a:r>
            <a:r>
              <a:rPr lang="en-US" b="1" dirty="0"/>
              <a:t>spike and wave activity</a:t>
            </a:r>
            <a:r>
              <a:rPr lang="en-US" dirty="0"/>
              <a:t> indicates a seizure disorder and may be seen in the EEG even if the patient is not having an epileptic seizure. Other epileptic conditions may be diagnosed if spikes or sharp waves are seen</a:t>
            </a:r>
            <a:r>
              <a:rPr lang="en-US" dirty="0" smtClean="0"/>
              <a:t>.</a:t>
            </a:r>
          </a:p>
          <a:p>
            <a:r>
              <a:rPr lang="en-US" dirty="0" err="1"/>
              <a:t>Triphasic</a:t>
            </a:r>
            <a:r>
              <a:rPr lang="en-US" dirty="0"/>
              <a:t> waves are sometimes seen if the patient has severe liver or kidney disease that is affecting brain function.</a:t>
            </a:r>
          </a:p>
        </p:txBody>
      </p:sp>
      <p:pic>
        <p:nvPicPr>
          <p:cNvPr id="4" name="Picture 3"/>
          <p:cNvPicPr>
            <a:picLocks noChangeAspect="1"/>
          </p:cNvPicPr>
          <p:nvPr/>
        </p:nvPicPr>
        <p:blipFill>
          <a:blip r:embed="rId2"/>
          <a:stretch>
            <a:fillRect/>
          </a:stretch>
        </p:blipFill>
        <p:spPr>
          <a:xfrm>
            <a:off x="2834528" y="2657193"/>
            <a:ext cx="2990850" cy="1362075"/>
          </a:xfrm>
          <a:prstGeom prst="rect">
            <a:avLst/>
          </a:prstGeom>
        </p:spPr>
      </p:pic>
    </p:spTree>
    <p:extLst>
      <p:ext uri="{BB962C8B-B14F-4D97-AF65-F5344CB8AC3E}">
        <p14:creationId xmlns:p14="http://schemas.microsoft.com/office/powerpoint/2010/main" xmlns="" val="1233639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EEG Recording</a:t>
            </a:r>
            <a:br>
              <a:rPr lang="en-US" dirty="0"/>
            </a:br>
            <a:endParaRPr lang="en-US" dirty="0"/>
          </a:p>
        </p:txBody>
      </p:sp>
      <p:sp>
        <p:nvSpPr>
          <p:cNvPr id="3" name="Text Placeholder 2"/>
          <p:cNvSpPr>
            <a:spLocks noGrp="1"/>
          </p:cNvSpPr>
          <p:nvPr>
            <p:ph type="body" idx="1"/>
          </p:nvPr>
        </p:nvSpPr>
        <p:spPr/>
        <p:txBody>
          <a:bodyPr/>
          <a:lstStyle/>
          <a:p>
            <a:r>
              <a:rPr lang="en-US" dirty="0"/>
              <a:t>The EEG recording can last from anything between 15 minutes to 1 hour or longer depending on the situation. Typically the patient will be lying down or sitting relaxed in a chair. Most of the recording is taken with the eyes closed, although the patient will be frequently asked to open them for short periods</a:t>
            </a:r>
            <a:r>
              <a:rPr lang="en-US" dirty="0" smtClean="0"/>
              <a:t>.</a:t>
            </a:r>
          </a:p>
          <a:p>
            <a:r>
              <a:rPr lang="en-US" dirty="0"/>
              <a:t>Most patients will be asked to carry out a period of deep breathing for approximately 3 minutes. This may produce some abnormal activity which would not be seen while the patient is relaxed. The physiological effect of deep breathing is to increase the amount of carbon dioxide (CO2) being removed from the bloodstream. This fall in CO2 produces a fall in blood pressure and at the same time blood vessels in the brain become constricted. This reduces blood flow and the delivery of oxygen and glucose to the brain. This in turn may produce some abnormal brain activity not seen in the resting record</a:t>
            </a:r>
            <a:r>
              <a:rPr lang="en-US" dirty="0" smtClean="0"/>
              <a:t>.</a:t>
            </a:r>
          </a:p>
          <a:p>
            <a:r>
              <a:rPr lang="en-US" dirty="0"/>
              <a:t>Photic stimulation is also carried out. A strobe lamp is placed 30 cm from the patient's eyes. Brief flashes of light (2 - 5 seconds in duration) at a number of different flash frequencies are delivered to the patient with both eyes open and eyes closed. A continuous flash with increasing and decreasing flash frequencies is sometimes used.</a:t>
            </a:r>
          </a:p>
          <a:p>
            <a:endParaRPr lang="en-US" dirty="0"/>
          </a:p>
          <a:p>
            <a:r>
              <a:rPr lang="en-US" dirty="0"/>
              <a:t>Some patients who are sensitive to flashing lights may show abnormal activity in the EEG.</a:t>
            </a:r>
          </a:p>
        </p:txBody>
      </p:sp>
    </p:spTree>
    <p:extLst>
      <p:ext uri="{BB962C8B-B14F-4D97-AF65-F5344CB8AC3E}">
        <p14:creationId xmlns:p14="http://schemas.microsoft.com/office/powerpoint/2010/main" xmlns="" val="880063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EEG analysis</a:t>
            </a:r>
            <a:endParaRPr lang="en-US" dirty="0"/>
          </a:p>
        </p:txBody>
      </p:sp>
      <p:sp>
        <p:nvSpPr>
          <p:cNvPr id="3" name="Text Placeholder 2"/>
          <p:cNvSpPr>
            <a:spLocks noGrp="1"/>
          </p:cNvSpPr>
          <p:nvPr>
            <p:ph type="body" idx="1"/>
          </p:nvPr>
        </p:nvSpPr>
        <p:spPr/>
        <p:txBody>
          <a:bodyPr/>
          <a:lstStyle/>
          <a:p>
            <a:r>
              <a:rPr lang="en-US" dirty="0"/>
              <a:t>Throughout the test the recordist is constantly annotating the record with any patient movements, or tasks that they are carrying out</a:t>
            </a:r>
            <a:r>
              <a:rPr lang="en-US" dirty="0" smtClean="0"/>
              <a:t>.</a:t>
            </a:r>
          </a:p>
          <a:p>
            <a:r>
              <a:rPr lang="en-US" dirty="0"/>
              <a:t>The EEG reports consists of a number of different sections. The recordist may prepare a report describing the type of activity seen in the record together with changes produced by deep breathing and photic stimulation. They will also comment on the patient's state during the recording. The physician will then interpret these changes with regard to the medical problem being investigated</a:t>
            </a:r>
            <a:r>
              <a:rPr lang="en-US" dirty="0" smtClean="0"/>
              <a:t>.</a:t>
            </a:r>
          </a:p>
          <a:p>
            <a:r>
              <a:rPr lang="en-US" dirty="0"/>
              <a:t>With an increase in the number of long recordings being carried out, many departments make use of detection algorithms such as spike and seizure detection. </a:t>
            </a:r>
            <a:endParaRPr lang="en-US" dirty="0" smtClean="0"/>
          </a:p>
          <a:p>
            <a:r>
              <a:rPr lang="en-US" dirty="0"/>
              <a:t>Other methods of </a:t>
            </a:r>
            <a:r>
              <a:rPr lang="en-US" dirty="0" smtClean="0"/>
              <a:t>analyzing </a:t>
            </a:r>
            <a:r>
              <a:rPr lang="en-US" dirty="0"/>
              <a:t>EEG data include Power Spectrum Analysis. A Fast Fourier Transform (FFT) is performed on sections of EEG data to determine the power content of the four main frequency bands. The resulting waveforms can be displayed as a brain map which will show the scalp distribution of the power within each frequency band.</a:t>
            </a:r>
          </a:p>
          <a:p>
            <a:endParaRPr lang="en-US" dirty="0"/>
          </a:p>
          <a:p>
            <a:r>
              <a:rPr lang="en-US" dirty="0"/>
              <a:t>The amplitude of the different waveforms at a single point can also be displayed in a similar format.</a:t>
            </a:r>
          </a:p>
          <a:p>
            <a:endParaRPr lang="en-US" dirty="0"/>
          </a:p>
          <a:p>
            <a:r>
              <a:rPr lang="en-US" dirty="0"/>
              <a:t>This type of display provides a more objective analysis of the EEG activity compared to a subjective visual analysis by a physician</a:t>
            </a:r>
            <a:r>
              <a:rPr lang="en-US" dirty="0" smtClean="0"/>
              <a:t>.</a:t>
            </a:r>
          </a:p>
          <a:p>
            <a:r>
              <a:rPr lang="en-US" dirty="0" smtClean="0"/>
              <a:t>Montage how electrodes are arranged in a relationship to each other. </a:t>
            </a:r>
            <a:endParaRPr lang="en-US" dirty="0"/>
          </a:p>
        </p:txBody>
      </p:sp>
    </p:spTree>
    <p:extLst>
      <p:ext uri="{BB962C8B-B14F-4D97-AF65-F5344CB8AC3E}">
        <p14:creationId xmlns:p14="http://schemas.microsoft.com/office/powerpoint/2010/main" xmlns="" val="19166076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3"/>
          <a:stretch>
            <a:fillRect/>
          </a:stretch>
        </p:blipFill>
        <p:spPr>
          <a:xfrm>
            <a:off x="1990165" y="1143001"/>
            <a:ext cx="4491317" cy="3482788"/>
          </a:xfrm>
          <a:prstGeom prst="rect">
            <a:avLst/>
          </a:prstGeom>
        </p:spPr>
      </p:pic>
    </p:spTree>
    <p:extLst>
      <p:ext uri="{BB962C8B-B14F-4D97-AF65-F5344CB8AC3E}">
        <p14:creationId xmlns:p14="http://schemas.microsoft.com/office/powerpoint/2010/main" xmlns="" val="31108254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3"/>
          <a:stretch>
            <a:fillRect/>
          </a:stretch>
        </p:blipFill>
        <p:spPr>
          <a:xfrm>
            <a:off x="0" y="0"/>
            <a:ext cx="9359153" cy="5143500"/>
          </a:xfrm>
          <a:prstGeom prst="rect">
            <a:avLst/>
          </a:prstGeom>
        </p:spPr>
      </p:pic>
    </p:spTree>
    <p:extLst>
      <p:ext uri="{BB962C8B-B14F-4D97-AF65-F5344CB8AC3E}">
        <p14:creationId xmlns:p14="http://schemas.microsoft.com/office/powerpoint/2010/main" xmlns="" val="5091616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a:t>
            </a:r>
            <a:endParaRPr lang="en-US" dirty="0"/>
          </a:p>
        </p:txBody>
      </p:sp>
      <p:sp>
        <p:nvSpPr>
          <p:cNvPr id="3" name="Text Placeholder 2"/>
          <p:cNvSpPr>
            <a:spLocks noGrp="1"/>
          </p:cNvSpPr>
          <p:nvPr>
            <p:ph type="body" idx="1"/>
          </p:nvPr>
        </p:nvSpPr>
        <p:spPr/>
        <p:txBody>
          <a:bodyPr/>
          <a:lstStyle/>
          <a:p>
            <a:r>
              <a:rPr lang="en-US" dirty="0" smtClean="0"/>
              <a:t>Frequency Domain Features:</a:t>
            </a:r>
          </a:p>
          <a:p>
            <a:pPr lvl="1"/>
            <a:r>
              <a:rPr lang="en-US" dirty="0" smtClean="0"/>
              <a:t> </a:t>
            </a:r>
            <a:r>
              <a:rPr lang="en-US" dirty="0" smtClean="0"/>
              <a:t>Frequency: </a:t>
            </a:r>
            <a:r>
              <a:rPr lang="en-US" dirty="0" smtClean="0"/>
              <a:t>How many cycles activity has in a second. </a:t>
            </a:r>
            <a:endParaRPr lang="en-US" dirty="0" smtClean="0"/>
          </a:p>
          <a:p>
            <a:pPr lvl="1"/>
            <a:r>
              <a:rPr lang="en-US" dirty="0" smtClean="0"/>
              <a:t>Location </a:t>
            </a:r>
          </a:p>
          <a:p>
            <a:pPr lvl="1"/>
            <a:r>
              <a:rPr lang="en-US" dirty="0" smtClean="0"/>
              <a:t>Morphology: </a:t>
            </a:r>
            <a:r>
              <a:rPr lang="en-US" dirty="0" smtClean="0"/>
              <a:t>How waveform looks spike, sharp, duration of the wave </a:t>
            </a:r>
            <a:r>
              <a:rPr lang="en-US" dirty="0" smtClean="0"/>
              <a:t>microseconds </a:t>
            </a:r>
          </a:p>
          <a:p>
            <a:pPr lvl="1"/>
            <a:r>
              <a:rPr lang="en-US" dirty="0" smtClean="0"/>
              <a:t>Amplitude: </a:t>
            </a:r>
            <a:r>
              <a:rPr lang="en-US" dirty="0" smtClean="0"/>
              <a:t>height of the wave in microvolt.</a:t>
            </a:r>
            <a:r>
              <a:rPr lang="en-US" dirty="0" smtClean="0"/>
              <a:t> </a:t>
            </a:r>
          </a:p>
          <a:p>
            <a:r>
              <a:rPr lang="en-US" dirty="0" smtClean="0"/>
              <a:t>Time domain Statistical Features </a:t>
            </a:r>
          </a:p>
          <a:p>
            <a:pPr lvl="1"/>
            <a:r>
              <a:rPr lang="en-US" dirty="0" smtClean="0"/>
              <a:t>Mean </a:t>
            </a:r>
          </a:p>
          <a:p>
            <a:pPr lvl="1"/>
            <a:r>
              <a:rPr lang="en-US" dirty="0" smtClean="0"/>
              <a:t>Standard Deviation </a:t>
            </a:r>
          </a:p>
          <a:p>
            <a:pPr lvl="1"/>
            <a:r>
              <a:rPr lang="en-US" dirty="0" smtClean="0"/>
              <a:t>Minimum value </a:t>
            </a:r>
          </a:p>
          <a:p>
            <a:pPr lvl="1"/>
            <a:r>
              <a:rPr lang="en-US" dirty="0" smtClean="0"/>
              <a:t>Maximum Value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EEG</a:t>
            </a:r>
            <a:endParaRPr lang="en-US" dirty="0"/>
          </a:p>
        </p:txBody>
      </p:sp>
      <p:sp>
        <p:nvSpPr>
          <p:cNvPr id="3" name="Text Placeholder 2"/>
          <p:cNvSpPr>
            <a:spLocks noGrp="1"/>
          </p:cNvSpPr>
          <p:nvPr>
            <p:ph type="body" idx="1"/>
          </p:nvPr>
        </p:nvSpPr>
        <p:spPr/>
        <p:txBody>
          <a:bodyPr/>
          <a:lstStyle/>
          <a:p>
            <a:r>
              <a:rPr lang="en-US" dirty="0"/>
              <a:t>EEG is as an aid to </a:t>
            </a:r>
            <a:r>
              <a:rPr lang="en-US" dirty="0" smtClean="0"/>
              <a:t>diagnose:</a:t>
            </a:r>
          </a:p>
          <a:p>
            <a:pPr lvl="1"/>
            <a:r>
              <a:rPr lang="it-IT" dirty="0" smtClean="0"/>
              <a:t>Alzheimer’s disease (AD), a brain disorder,</a:t>
            </a:r>
          </a:p>
          <a:p>
            <a:pPr lvl="1"/>
            <a:r>
              <a:rPr lang="en-US" dirty="0" smtClean="0"/>
              <a:t>Dementias</a:t>
            </a:r>
          </a:p>
          <a:p>
            <a:pPr lvl="1"/>
            <a:r>
              <a:rPr lang="en-US" dirty="0" smtClean="0"/>
              <a:t>Brain cancer</a:t>
            </a:r>
          </a:p>
          <a:p>
            <a:pPr lvl="1"/>
            <a:r>
              <a:rPr lang="en-US" dirty="0" smtClean="0"/>
              <a:t>Epilepsy</a:t>
            </a:r>
          </a:p>
          <a:p>
            <a:pPr lvl="1"/>
            <a:r>
              <a:rPr lang="en-US" dirty="0" smtClean="0"/>
              <a:t>Parkinson’s and other movement disorders</a:t>
            </a:r>
          </a:p>
          <a:p>
            <a:pPr lvl="1"/>
            <a:r>
              <a:rPr lang="en-US" dirty="0" smtClean="0"/>
              <a:t>Stroke</a:t>
            </a:r>
          </a:p>
          <a:p>
            <a:pPr lvl="1"/>
            <a:endParaRPr lang="en-US" dirty="0" smtClean="0"/>
          </a:p>
        </p:txBody>
      </p:sp>
    </p:spTree>
    <p:extLst>
      <p:ext uri="{BB962C8B-B14F-4D97-AF65-F5344CB8AC3E}">
        <p14:creationId xmlns:p14="http://schemas.microsoft.com/office/powerpoint/2010/main" xmlns="" val="20024828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Biomedical Data Acquisition Sensor</a:t>
            </a:r>
            <a:endParaRPr lang="en-US" dirty="0"/>
          </a:p>
        </p:txBody>
      </p:sp>
      <p:pic>
        <p:nvPicPr>
          <p:cNvPr id="4" name="Picture 3"/>
          <p:cNvPicPr>
            <a:picLocks noChangeAspect="1"/>
          </p:cNvPicPr>
          <p:nvPr/>
        </p:nvPicPr>
        <p:blipFill>
          <a:blip r:embed="rId2"/>
          <a:stretch>
            <a:fillRect/>
          </a:stretch>
        </p:blipFill>
        <p:spPr>
          <a:xfrm>
            <a:off x="0" y="1234328"/>
            <a:ext cx="9144000" cy="1276350"/>
          </a:xfrm>
          <a:prstGeom prst="rect">
            <a:avLst/>
          </a:prstGeom>
        </p:spPr>
      </p:pic>
      <p:pic>
        <p:nvPicPr>
          <p:cNvPr id="5" name="Picture 4"/>
          <p:cNvPicPr>
            <a:picLocks noChangeAspect="1"/>
          </p:cNvPicPr>
          <p:nvPr/>
        </p:nvPicPr>
        <p:blipFill>
          <a:blip r:embed="rId3"/>
          <a:stretch>
            <a:fillRect/>
          </a:stretch>
        </p:blipFill>
        <p:spPr>
          <a:xfrm>
            <a:off x="6276975" y="2727281"/>
            <a:ext cx="2867025" cy="1333500"/>
          </a:xfrm>
          <a:prstGeom prst="rect">
            <a:avLst/>
          </a:prstGeom>
        </p:spPr>
      </p:pic>
      <p:pic>
        <p:nvPicPr>
          <p:cNvPr id="6" name="Picture 5"/>
          <p:cNvPicPr>
            <a:picLocks noChangeAspect="1"/>
          </p:cNvPicPr>
          <p:nvPr/>
        </p:nvPicPr>
        <p:blipFill>
          <a:blip r:embed="rId4"/>
          <a:stretch>
            <a:fillRect/>
          </a:stretch>
        </p:blipFill>
        <p:spPr>
          <a:xfrm>
            <a:off x="720000" y="2727281"/>
            <a:ext cx="3677188" cy="1925402"/>
          </a:xfrm>
          <a:prstGeom prst="rect">
            <a:avLst/>
          </a:prstGeom>
        </p:spPr>
      </p:pic>
    </p:spTree>
    <p:extLst>
      <p:ext uri="{BB962C8B-B14F-4D97-AF65-F5344CB8AC3E}">
        <p14:creationId xmlns:p14="http://schemas.microsoft.com/office/powerpoint/2010/main" xmlns="" val="35923534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just"/>
            <a:r>
              <a:rPr lang="en-US" b="1" dirty="0" err="1">
                <a:hlinkClick r:id="rId3"/>
              </a:rPr>
              <a:t>BioAmp</a:t>
            </a:r>
            <a:r>
              <a:rPr lang="en-US" b="1" dirty="0">
                <a:hlinkClick r:id="rId3"/>
              </a:rPr>
              <a:t> EXG Pill</a:t>
            </a:r>
            <a:r>
              <a:rPr lang="en-US" dirty="0"/>
              <a:t> is a small, powerful analog-front-end (AFE) </a:t>
            </a:r>
            <a:r>
              <a:rPr lang="en-US" dirty="0" err="1"/>
              <a:t>biopotential</a:t>
            </a:r>
            <a:r>
              <a:rPr lang="en-US" dirty="0"/>
              <a:t> signal-acquisition board that can be paired with any microcontroller unit (MCU) or single-board computer (SBC) with an analog-to-digital converter (ADC) such as </a:t>
            </a:r>
            <a:r>
              <a:rPr lang="en-US" dirty="0" err="1"/>
              <a:t>Arduino</a:t>
            </a:r>
            <a:r>
              <a:rPr lang="en-US" dirty="0"/>
              <a:t> UNO &amp; </a:t>
            </a:r>
            <a:r>
              <a:rPr lang="en-US" dirty="0" err="1"/>
              <a:t>Nano</a:t>
            </a:r>
            <a:r>
              <a:rPr lang="en-US" dirty="0"/>
              <a:t>, </a:t>
            </a:r>
            <a:r>
              <a:rPr lang="en-US" dirty="0" err="1"/>
              <a:t>Espressif</a:t>
            </a:r>
            <a:r>
              <a:rPr lang="en-US" dirty="0"/>
              <a:t> ESP32, </a:t>
            </a:r>
            <a:r>
              <a:rPr lang="en-US" dirty="0" err="1"/>
              <a:t>Adafruit</a:t>
            </a:r>
            <a:r>
              <a:rPr lang="en-US" dirty="0"/>
              <a:t> </a:t>
            </a:r>
            <a:r>
              <a:rPr lang="en-US" dirty="0" err="1"/>
              <a:t>QtPy</a:t>
            </a:r>
            <a:r>
              <a:rPr lang="en-US" dirty="0"/>
              <a:t>, STM32 Blue Pill, </a:t>
            </a:r>
            <a:r>
              <a:rPr lang="en-US" dirty="0" err="1"/>
              <a:t>BeagleBone</a:t>
            </a:r>
            <a:r>
              <a:rPr lang="en-US" dirty="0"/>
              <a:t> Black, and Raspberry Pi Pico, to name just a few. It also works with any dedicated ADC, like the Texas Instruments ADS1115 and ADS131M0x, among others.</a:t>
            </a:r>
          </a:p>
        </p:txBody>
      </p:sp>
      <p:pic>
        <p:nvPicPr>
          <p:cNvPr id="4" name="Picture 3"/>
          <p:cNvPicPr>
            <a:picLocks noChangeAspect="1"/>
          </p:cNvPicPr>
          <p:nvPr/>
        </p:nvPicPr>
        <p:blipFill>
          <a:blip r:embed="rId4"/>
          <a:stretch>
            <a:fillRect/>
          </a:stretch>
        </p:blipFill>
        <p:spPr>
          <a:xfrm>
            <a:off x="2245659" y="2299447"/>
            <a:ext cx="5029200" cy="2358278"/>
          </a:xfrm>
          <a:prstGeom prst="rect">
            <a:avLst/>
          </a:prstGeom>
        </p:spPr>
      </p:pic>
      <p:sp>
        <p:nvSpPr>
          <p:cNvPr id="5" name="Title 1"/>
          <p:cNvSpPr>
            <a:spLocks noGrp="1"/>
          </p:cNvSpPr>
          <p:nvPr>
            <p:ph type="title"/>
          </p:nvPr>
        </p:nvSpPr>
        <p:spPr>
          <a:xfrm>
            <a:off x="720000" y="445025"/>
            <a:ext cx="7704000" cy="572700"/>
          </a:xfrm>
        </p:spPr>
        <p:txBody>
          <a:bodyPr/>
          <a:lstStyle/>
          <a:p>
            <a:r>
              <a:rPr lang="en-US" dirty="0" smtClean="0"/>
              <a:t>Biomedical Data Acquisition Sensor</a:t>
            </a:r>
            <a:endParaRPr lang="en-US" dirty="0"/>
          </a:p>
        </p:txBody>
      </p:sp>
    </p:spTree>
    <p:extLst>
      <p:ext uri="{BB962C8B-B14F-4D97-AF65-F5344CB8AC3E}">
        <p14:creationId xmlns:p14="http://schemas.microsoft.com/office/powerpoint/2010/main" xmlns="" val="29394748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24535" y="445025"/>
            <a:ext cx="6494930" cy="4261446"/>
          </a:xfrm>
          <a:prstGeom prst="rect">
            <a:avLst/>
          </a:prstGeom>
        </p:spPr>
      </p:pic>
    </p:spTree>
    <p:extLst>
      <p:ext uri="{BB962C8B-B14F-4D97-AF65-F5344CB8AC3E}">
        <p14:creationId xmlns:p14="http://schemas.microsoft.com/office/powerpoint/2010/main" xmlns="" val="29237513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928687" y="243319"/>
            <a:ext cx="7286625" cy="4617512"/>
          </a:xfrm>
          <a:prstGeom prst="rect">
            <a:avLst/>
          </a:prstGeom>
        </p:spPr>
      </p:pic>
    </p:spTree>
    <p:extLst>
      <p:ext uri="{BB962C8B-B14F-4D97-AF65-F5344CB8AC3E}">
        <p14:creationId xmlns:p14="http://schemas.microsoft.com/office/powerpoint/2010/main" xmlns="" val="12192292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EEG Projects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xmlns="" val="3061690452"/>
              </p:ext>
            </p:extLst>
          </p:nvPr>
        </p:nvGraphicFramePr>
        <p:xfrm>
          <a:off x="368490" y="1351160"/>
          <a:ext cx="8366077" cy="2960962"/>
        </p:xfrm>
        <a:graphic>
          <a:graphicData uri="http://schemas.openxmlformats.org/drawingml/2006/table">
            <a:tbl>
              <a:tblPr firstRow="1" bandRow="1">
                <a:tableStyleId>{FA629DB5-9736-4D24-9571-27663E2830E8}</a:tableStyleId>
              </a:tblPr>
              <a:tblGrid>
                <a:gridCol w="3671247">
                  <a:extLst>
                    <a:ext uri="{9D8B030D-6E8A-4147-A177-3AD203B41FA5}">
                      <a16:colId xmlns:a16="http://schemas.microsoft.com/office/drawing/2014/main" xmlns="" val="1203664752"/>
                    </a:ext>
                  </a:extLst>
                </a:gridCol>
                <a:gridCol w="4694830">
                  <a:extLst>
                    <a:ext uri="{9D8B030D-6E8A-4147-A177-3AD203B41FA5}">
                      <a16:colId xmlns:a16="http://schemas.microsoft.com/office/drawing/2014/main" xmlns="" val="1693904698"/>
                    </a:ext>
                  </a:extLst>
                </a:gridCol>
              </a:tblGrid>
              <a:tr h="308350">
                <a:tc>
                  <a:txBody>
                    <a:bodyPr/>
                    <a:lstStyle/>
                    <a:p>
                      <a:pPr algn="ctr"/>
                      <a:r>
                        <a:rPr lang="en-US" b="1" dirty="0" smtClean="0">
                          <a:solidFill>
                            <a:schemeClr val="tx1"/>
                          </a:solidFill>
                        </a:rPr>
                        <a:t>Project Goal </a:t>
                      </a:r>
                      <a:endParaRPr lang="en-US" b="1" dirty="0">
                        <a:solidFill>
                          <a:schemeClr val="tx1"/>
                        </a:solidFill>
                      </a:endParaRPr>
                    </a:p>
                  </a:txBody>
                  <a:tcPr>
                    <a:solidFill>
                      <a:schemeClr val="accent1">
                        <a:lumMod val="40000"/>
                        <a:lumOff val="60000"/>
                      </a:schemeClr>
                    </a:solidFill>
                  </a:tcPr>
                </a:tc>
                <a:tc>
                  <a:txBody>
                    <a:bodyPr/>
                    <a:lstStyle/>
                    <a:p>
                      <a:pPr algn="ctr"/>
                      <a:r>
                        <a:rPr lang="en-US" b="1" dirty="0" smtClean="0">
                          <a:solidFill>
                            <a:schemeClr val="tx1"/>
                          </a:solidFill>
                        </a:rPr>
                        <a:t> Link </a:t>
                      </a:r>
                      <a:endParaRPr lang="en-US" b="1"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xmlns="" val="3124486109"/>
                  </a:ext>
                </a:extLst>
              </a:tr>
              <a:tr h="608251">
                <a:tc>
                  <a:txBody>
                    <a:bodyPr/>
                    <a:lstStyle/>
                    <a:p>
                      <a:pPr algn="just"/>
                      <a:r>
                        <a:rPr lang="en-US" sz="1200" b="1" dirty="0" smtClean="0"/>
                        <a:t>EEG Data Analysis for Alcoholic and Control Group.</a:t>
                      </a:r>
                      <a:endParaRPr lang="en-US" sz="1200" b="1" dirty="0"/>
                    </a:p>
                  </a:txBody>
                  <a:tcPr/>
                </a:tc>
                <a:tc>
                  <a:txBody>
                    <a:bodyPr/>
                    <a:lstStyle/>
                    <a:p>
                      <a:r>
                        <a:rPr lang="en-US" sz="1200" dirty="0" smtClean="0">
                          <a:hlinkClick r:id="rId3"/>
                        </a:rPr>
                        <a:t>https://www.kaggle.com/code/ruslankl/eeg-data-analysis#1.-Project-Overview</a:t>
                      </a:r>
                      <a:endParaRPr lang="en-US" sz="1200" dirty="0" smtClean="0"/>
                    </a:p>
                    <a:p>
                      <a:endParaRPr lang="en-US" sz="1200" dirty="0"/>
                    </a:p>
                  </a:txBody>
                  <a:tcPr/>
                </a:tc>
                <a:extLst>
                  <a:ext uri="{0D108BD9-81ED-4DB2-BD59-A6C34878D82A}">
                    <a16:rowId xmlns:a16="http://schemas.microsoft.com/office/drawing/2014/main" xmlns="" val="3565859864"/>
                  </a:ext>
                </a:extLst>
              </a:tr>
              <a:tr h="785658">
                <a:tc>
                  <a:txBody>
                    <a:bodyPr/>
                    <a:lstStyle/>
                    <a:p>
                      <a:pPr algn="just"/>
                      <a:r>
                        <a:rPr lang="en-US" sz="1200" b="1" dirty="0" smtClean="0"/>
                        <a:t>Given EEG data from subjects who were watching movies, let's try to predict the emotional state of a subject during a given movie.</a:t>
                      </a:r>
                      <a:endParaRPr lang="en-US" sz="1200" b="1" dirty="0"/>
                    </a:p>
                  </a:txBody>
                  <a:tcPr/>
                </a:tc>
                <a:tc>
                  <a:txBody>
                    <a:bodyPr/>
                    <a:lstStyle/>
                    <a:p>
                      <a:r>
                        <a:rPr lang="en-US" sz="1200" dirty="0" smtClean="0">
                          <a:hlinkClick r:id="rId4"/>
                        </a:rPr>
                        <a:t>https://www.kaggle.com/code/gcdatkin/eeg-emotion-prediction/notebook</a:t>
                      </a:r>
                      <a:endParaRPr lang="en-US" sz="1200" dirty="0" smtClean="0"/>
                    </a:p>
                    <a:p>
                      <a:endParaRPr lang="en-US" sz="1200" dirty="0"/>
                    </a:p>
                  </a:txBody>
                  <a:tcPr/>
                </a:tc>
                <a:extLst>
                  <a:ext uri="{0D108BD9-81ED-4DB2-BD59-A6C34878D82A}">
                    <a16:rowId xmlns:a16="http://schemas.microsoft.com/office/drawing/2014/main" xmlns="" val="4289135922"/>
                  </a:ext>
                </a:extLst>
              </a:tr>
              <a:tr h="608251">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smtClean="0">
                          <a:solidFill>
                            <a:srgbClr val="000000"/>
                          </a:solidFill>
                          <a:effectLst/>
                          <a:latin typeface="Arial"/>
                          <a:ea typeface="Arial"/>
                          <a:cs typeface="Arial"/>
                          <a:sym typeface="Arial"/>
                        </a:rPr>
                        <a:t>Eye State Classification EEG Dataset</a:t>
                      </a:r>
                    </a:p>
                    <a:p>
                      <a:pPr algn="just"/>
                      <a:r>
                        <a:rPr lang="en-US" sz="1200" b="1" dirty="0" smtClean="0"/>
                        <a:t>1 indicates the eye-closed and</a:t>
                      </a:r>
                    </a:p>
                    <a:p>
                      <a:r>
                        <a:rPr lang="en-US" sz="1200" b="1" dirty="0" smtClean="0"/>
                        <a:t>0 the eye-open state.</a:t>
                      </a:r>
                      <a:endParaRPr lang="en-US" sz="1200" b="1" dirty="0"/>
                    </a:p>
                  </a:txBody>
                  <a:tcPr/>
                </a:tc>
                <a:tc>
                  <a:txBody>
                    <a:bodyPr/>
                    <a:lstStyle/>
                    <a:p>
                      <a:r>
                        <a:rPr lang="en-US" sz="1200" dirty="0" smtClean="0">
                          <a:hlinkClick r:id="rId5"/>
                        </a:rPr>
                        <a:t>https://www.kaggle.com/datasets/robikscube/eye-state-classification-eeg-dataset</a:t>
                      </a:r>
                      <a:endParaRPr lang="en-US" sz="1200" dirty="0" smtClean="0"/>
                    </a:p>
                    <a:p>
                      <a:endParaRPr lang="en-US" sz="1200" dirty="0"/>
                    </a:p>
                  </a:txBody>
                  <a:tcPr/>
                </a:tc>
                <a:extLst>
                  <a:ext uri="{0D108BD9-81ED-4DB2-BD59-A6C34878D82A}">
                    <a16:rowId xmlns:a16="http://schemas.microsoft.com/office/drawing/2014/main" xmlns="" val="2490324551"/>
                  </a:ext>
                </a:extLst>
              </a:tr>
              <a:tr h="549492">
                <a:tc>
                  <a:txBody>
                    <a:bodyPr/>
                    <a:lstStyle/>
                    <a:p>
                      <a:pPr fontAlgn="base"/>
                      <a:r>
                        <a:rPr lang="en-US" sz="1200" b="1" i="0" u="none" strike="noStrike" cap="none" dirty="0" smtClean="0">
                          <a:solidFill>
                            <a:srgbClr val="000000"/>
                          </a:solidFill>
                          <a:effectLst/>
                          <a:latin typeface="Arial"/>
                          <a:ea typeface="Arial"/>
                          <a:cs typeface="Arial"/>
                          <a:sym typeface="Arial"/>
                        </a:rPr>
                        <a:t>Grasp-and-Lift EEG Detection</a:t>
                      </a:r>
                    </a:p>
                    <a:p>
                      <a:pPr fontAlgn="base"/>
                      <a:r>
                        <a:rPr lang="en-US" sz="1200" b="1" i="0" u="none" strike="noStrike" cap="none" dirty="0" smtClean="0">
                          <a:solidFill>
                            <a:srgbClr val="000000"/>
                          </a:solidFill>
                          <a:effectLst/>
                          <a:latin typeface="Arial"/>
                          <a:ea typeface="Arial"/>
                          <a:cs typeface="Arial"/>
                          <a:sym typeface="Arial"/>
                        </a:rPr>
                        <a:t>Identify hand motions from EEG </a:t>
                      </a:r>
                      <a:r>
                        <a:rPr lang="en-US" sz="1200" b="1" i="0" u="none" strike="noStrike" cap="none" dirty="0" smtClean="0">
                          <a:solidFill>
                            <a:srgbClr val="000000"/>
                          </a:solidFill>
                          <a:effectLst/>
                          <a:latin typeface="Arial"/>
                          <a:ea typeface="Arial"/>
                          <a:cs typeface="Arial"/>
                          <a:sym typeface="Arial"/>
                        </a:rPr>
                        <a:t>recordings</a:t>
                      </a:r>
                      <a:endParaRPr lang="en-US" sz="1200" b="1" i="0" u="none" strike="noStrike" cap="none" dirty="0" smtClean="0">
                        <a:solidFill>
                          <a:srgbClr val="000000"/>
                        </a:solidFill>
                        <a:effectLst/>
                        <a:latin typeface="Arial"/>
                        <a:ea typeface="Arial"/>
                        <a:cs typeface="Arial"/>
                        <a:sym typeface="Arial"/>
                      </a:endParaRPr>
                    </a:p>
                  </a:txBody>
                  <a:tcPr/>
                </a:tc>
                <a:tc>
                  <a:txBody>
                    <a:bodyPr/>
                    <a:lstStyle/>
                    <a:p>
                      <a:r>
                        <a:rPr lang="en-US" sz="1200" dirty="0" smtClean="0">
                          <a:hlinkClick r:id="rId6"/>
                        </a:rPr>
                        <a:t>https://</a:t>
                      </a:r>
                      <a:r>
                        <a:rPr lang="en-US" sz="1200" dirty="0" smtClean="0">
                          <a:hlinkClick r:id="rId6"/>
                        </a:rPr>
                        <a:t>www.kaggle.com/competitions/grasp-and-lift-eeg-detection</a:t>
                      </a:r>
                      <a:endParaRPr lang="en-US" sz="1200" dirty="0" smtClean="0"/>
                    </a:p>
                  </a:txBody>
                  <a:tcPr/>
                </a:tc>
                <a:extLst>
                  <a:ext uri="{0D108BD9-81ED-4DB2-BD59-A6C34878D82A}">
                    <a16:rowId xmlns:a16="http://schemas.microsoft.com/office/drawing/2014/main" xmlns="" val="100838199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xmlns="" val="3663271238"/>
              </p:ext>
            </p:extLst>
          </p:nvPr>
        </p:nvGraphicFramePr>
        <p:xfrm>
          <a:off x="617220" y="1251523"/>
          <a:ext cx="8128165" cy="3388360"/>
        </p:xfrm>
        <a:graphic>
          <a:graphicData uri="http://schemas.openxmlformats.org/drawingml/2006/table">
            <a:tbl>
              <a:tblPr firstRow="1" bandRow="1">
                <a:tableStyleId>{FA629DB5-9736-4D24-9571-27663E2830E8}</a:tableStyleId>
              </a:tblPr>
              <a:tblGrid>
                <a:gridCol w="3840480">
                  <a:extLst>
                    <a:ext uri="{9D8B030D-6E8A-4147-A177-3AD203B41FA5}">
                      <a16:colId xmlns:a16="http://schemas.microsoft.com/office/drawing/2014/main" xmlns="" val="2503425903"/>
                    </a:ext>
                  </a:extLst>
                </a:gridCol>
                <a:gridCol w="4287685">
                  <a:extLst>
                    <a:ext uri="{9D8B030D-6E8A-4147-A177-3AD203B41FA5}">
                      <a16:colId xmlns:a16="http://schemas.microsoft.com/office/drawing/2014/main" xmlns="" val="3879231994"/>
                    </a:ext>
                  </a:extLst>
                </a:gridCol>
              </a:tblGrid>
              <a:tr h="370840">
                <a:tc>
                  <a:txBody>
                    <a:bodyPr/>
                    <a:lstStyle/>
                    <a:p>
                      <a:pPr algn="ctr"/>
                      <a:r>
                        <a:rPr lang="en-US" b="1" dirty="0" smtClean="0">
                          <a:solidFill>
                            <a:schemeClr val="tx1"/>
                          </a:solidFill>
                        </a:rPr>
                        <a:t>Project Goal </a:t>
                      </a:r>
                      <a:endParaRPr lang="en-US" b="1" dirty="0">
                        <a:solidFill>
                          <a:schemeClr val="tx1"/>
                        </a:solidFill>
                      </a:endParaRPr>
                    </a:p>
                  </a:txBody>
                  <a:tcPr>
                    <a:solidFill>
                      <a:schemeClr val="accent1">
                        <a:lumMod val="40000"/>
                        <a:lumOff val="60000"/>
                      </a:schemeClr>
                    </a:solidFill>
                  </a:tcPr>
                </a:tc>
                <a:tc>
                  <a:txBody>
                    <a:bodyPr/>
                    <a:lstStyle/>
                    <a:p>
                      <a:pPr algn="ctr"/>
                      <a:r>
                        <a:rPr lang="en-US" b="1" dirty="0" smtClean="0">
                          <a:solidFill>
                            <a:schemeClr val="tx1"/>
                          </a:solidFill>
                        </a:rPr>
                        <a:t> Link </a:t>
                      </a:r>
                      <a:endParaRPr lang="en-US" b="1" dirty="0">
                        <a:solidFill>
                          <a:schemeClr val="tx1"/>
                        </a:solidFill>
                      </a:endParaRPr>
                    </a:p>
                  </a:txBody>
                  <a:tcPr>
                    <a:solidFill>
                      <a:schemeClr val="accent1">
                        <a:lumMod val="40000"/>
                        <a:lumOff val="60000"/>
                      </a:schemeClr>
                    </a:solidFill>
                  </a:tcPr>
                </a:tc>
                <a:extLst>
                  <a:ext uri="{0D108BD9-81ED-4DB2-BD59-A6C34878D82A}">
                    <a16:rowId xmlns:a16="http://schemas.microsoft.com/office/drawing/2014/main" xmlns="" val="3537700536"/>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smtClean="0">
                          <a:solidFill>
                            <a:srgbClr val="000000"/>
                          </a:solidFill>
                          <a:effectLst/>
                          <a:latin typeface="Arial"/>
                          <a:ea typeface="Arial"/>
                          <a:cs typeface="Arial"/>
                          <a:sym typeface="Arial"/>
                        </a:rPr>
                        <a:t>Confused Student EEG prediction</a:t>
                      </a:r>
                    </a:p>
                    <a:p>
                      <a:endParaRPr lang="en-US" sz="1200" dirty="0"/>
                    </a:p>
                  </a:txBody>
                  <a:tcPr/>
                </a:tc>
                <a:tc>
                  <a:txBody>
                    <a:bodyPr/>
                    <a:lstStyle/>
                    <a:p>
                      <a:r>
                        <a:rPr lang="en-US" sz="1200" dirty="0" smtClean="0">
                          <a:hlinkClick r:id="rId2"/>
                        </a:rPr>
                        <a:t>https://www.kaggle.com/code/shreyaspj/confused-student-eeg-prediction</a:t>
                      </a:r>
                      <a:endParaRPr lang="en-US" sz="1200" dirty="0" smtClean="0"/>
                    </a:p>
                    <a:p>
                      <a:endParaRPr lang="en-US" sz="1200" dirty="0"/>
                    </a:p>
                  </a:txBody>
                  <a:tcPr/>
                </a:tc>
                <a:extLst>
                  <a:ext uri="{0D108BD9-81ED-4DB2-BD59-A6C34878D82A}">
                    <a16:rowId xmlns:a16="http://schemas.microsoft.com/office/drawing/2014/main" xmlns="" val="428334628"/>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smtClean="0">
                          <a:solidFill>
                            <a:srgbClr val="000000"/>
                          </a:solidFill>
                          <a:effectLst/>
                          <a:latin typeface="Arial"/>
                          <a:ea typeface="Arial"/>
                          <a:cs typeface="Arial"/>
                          <a:sym typeface="Arial"/>
                        </a:rPr>
                        <a:t>EEG Psychiatric Disorders Dataset</a:t>
                      </a:r>
                    </a:p>
                    <a:p>
                      <a:endParaRPr lang="en-US" sz="1200" dirty="0"/>
                    </a:p>
                  </a:txBody>
                  <a:tcPr/>
                </a:tc>
                <a:tc>
                  <a:txBody>
                    <a:bodyPr/>
                    <a:lstStyle/>
                    <a:p>
                      <a:r>
                        <a:rPr lang="en-US" sz="1200" dirty="0" smtClean="0">
                          <a:hlinkClick r:id="rId3"/>
                        </a:rPr>
                        <a:t>https://www.kaggle.com/datasets/shashwatwork/eeg-psychiatric-disorders-dataset</a:t>
                      </a:r>
                      <a:endParaRPr lang="en-US" sz="1200" dirty="0" smtClean="0"/>
                    </a:p>
                    <a:p>
                      <a:endParaRPr lang="en-US" sz="1200" dirty="0"/>
                    </a:p>
                  </a:txBody>
                  <a:tcPr/>
                </a:tc>
                <a:extLst>
                  <a:ext uri="{0D108BD9-81ED-4DB2-BD59-A6C34878D82A}">
                    <a16:rowId xmlns:a16="http://schemas.microsoft.com/office/drawing/2014/main" xmlns="" val="612673194"/>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smtClean="0">
                          <a:solidFill>
                            <a:srgbClr val="000000"/>
                          </a:solidFill>
                          <a:effectLst/>
                          <a:latin typeface="Arial"/>
                          <a:ea typeface="Arial"/>
                          <a:cs typeface="Arial"/>
                          <a:sym typeface="Arial"/>
                        </a:rPr>
                        <a:t>EEG data from basic sensory task in Schizophrenia</a:t>
                      </a:r>
                    </a:p>
                    <a:p>
                      <a:endParaRPr lang="en-US" sz="1200" dirty="0"/>
                    </a:p>
                  </a:txBody>
                  <a:tcPr/>
                </a:tc>
                <a:tc>
                  <a:txBody>
                    <a:bodyPr/>
                    <a:lstStyle/>
                    <a:p>
                      <a:r>
                        <a:rPr lang="en-US" sz="1200" dirty="0" smtClean="0">
                          <a:hlinkClick r:id="rId4"/>
                        </a:rPr>
                        <a:t>https://www.kaggle.com/datasets/broach/button-tone-sz</a:t>
                      </a:r>
                      <a:endParaRPr lang="en-US" sz="1200" dirty="0" smtClean="0"/>
                    </a:p>
                    <a:p>
                      <a:endParaRPr lang="en-US" sz="1200" dirty="0"/>
                    </a:p>
                  </a:txBody>
                  <a:tcPr/>
                </a:tc>
                <a:extLst>
                  <a:ext uri="{0D108BD9-81ED-4DB2-BD59-A6C34878D82A}">
                    <a16:rowId xmlns:a16="http://schemas.microsoft.com/office/drawing/2014/main" xmlns="" val="2787645690"/>
                  </a:ext>
                </a:extLst>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smtClean="0">
                          <a:solidFill>
                            <a:srgbClr val="000000"/>
                          </a:solidFill>
                          <a:effectLst/>
                          <a:latin typeface="Arial"/>
                          <a:ea typeface="Arial"/>
                          <a:cs typeface="Arial"/>
                          <a:sym typeface="Arial"/>
                        </a:rPr>
                        <a:t>Sleepy Driver EEG Brainwave Data</a:t>
                      </a:r>
                    </a:p>
                  </a:txBody>
                  <a:tcPr/>
                </a:tc>
                <a:tc>
                  <a:txBody>
                    <a:bodyPr/>
                    <a:lstStyle/>
                    <a:p>
                      <a:r>
                        <a:rPr lang="en-US" sz="1200" dirty="0" smtClean="0">
                          <a:hlinkClick r:id=""/>
                        </a:rPr>
                        <a:t>https://www.kaggle.com/datasets/naddamuhhamed/sleepy-driver-eeg-brainwave-data</a:t>
                      </a:r>
                      <a:endParaRPr lang="en-US" sz="12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dirty="0" smtClean="0">
                          <a:solidFill>
                            <a:srgbClr val="000000"/>
                          </a:solidFill>
                          <a:effectLst/>
                          <a:latin typeface="Arial"/>
                          <a:ea typeface="Arial"/>
                          <a:cs typeface="Arial"/>
                          <a:sym typeface="Arial"/>
                        </a:rPr>
                        <a:t>Training of EEG-Schizophrenia Disorder using CNN</a:t>
                      </a:r>
                    </a:p>
                    <a:p>
                      <a:endParaRPr lang="en-US" sz="1200" dirty="0"/>
                    </a:p>
                  </a:txBody>
                  <a:tcPr/>
                </a:tc>
                <a:tc>
                  <a:txBody>
                    <a:bodyPr/>
                    <a:lstStyle/>
                    <a:p>
                      <a:r>
                        <a:rPr lang="en-US" sz="1200" dirty="0" smtClean="0">
                          <a:hlinkClick r:id="rId5"/>
                        </a:rPr>
                        <a:t>https://www.kaggle.com/code/owaiskhan9654/training-of-eeg-schizophrenia-disorder-using-cnn</a:t>
                      </a:r>
                      <a:endParaRPr lang="en-US" sz="1200" dirty="0" smtClean="0"/>
                    </a:p>
                    <a:p>
                      <a:endParaRPr lang="en-US" sz="1200" dirty="0"/>
                    </a:p>
                  </a:txBody>
                  <a:tcPr/>
                </a:tc>
                <a:extLst>
                  <a:ext uri="{0D108BD9-81ED-4DB2-BD59-A6C34878D82A}">
                    <a16:rowId xmlns:a16="http://schemas.microsoft.com/office/drawing/2014/main" xmlns="" val="1729023627"/>
                  </a:ext>
                </a:extLst>
              </a:tr>
            </a:tbl>
          </a:graphicData>
        </a:graphic>
      </p:graphicFrame>
      <p:sp>
        <p:nvSpPr>
          <p:cNvPr id="5" name="Title 1"/>
          <p:cNvSpPr>
            <a:spLocks noGrp="1"/>
          </p:cNvSpPr>
          <p:nvPr>
            <p:ph type="title"/>
          </p:nvPr>
        </p:nvSpPr>
        <p:spPr>
          <a:xfrm>
            <a:off x="720000" y="445025"/>
            <a:ext cx="7704000" cy="572700"/>
          </a:xfrm>
        </p:spPr>
        <p:txBody>
          <a:bodyPr/>
          <a:lstStyle/>
          <a:p>
            <a:r>
              <a:rPr lang="en-US" dirty="0" smtClean="0"/>
              <a:t>Examples of EEG Projects</a:t>
            </a:r>
            <a:endParaRPr lang="en-US" dirty="0"/>
          </a:p>
        </p:txBody>
      </p:sp>
    </p:spTree>
    <p:extLst>
      <p:ext uri="{BB962C8B-B14F-4D97-AF65-F5344CB8AC3E}">
        <p14:creationId xmlns:p14="http://schemas.microsoft.com/office/powerpoint/2010/main" xmlns="" val="14794821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317" y="1830072"/>
            <a:ext cx="7704000" cy="572700"/>
          </a:xfrm>
        </p:spPr>
        <p:txBody>
          <a:bodyPr/>
          <a:lstStyle/>
          <a:p>
            <a:r>
              <a:rPr lang="en-US" dirty="0" smtClean="0"/>
              <a:t>Thanks!</a:t>
            </a:r>
            <a:endParaRPr lang="en-US" dirty="0"/>
          </a:p>
        </p:txBody>
      </p:sp>
    </p:spTree>
    <p:extLst>
      <p:ext uri="{BB962C8B-B14F-4D97-AF65-F5344CB8AC3E}">
        <p14:creationId xmlns:p14="http://schemas.microsoft.com/office/powerpoint/2010/main" xmlns="" val="1265532773"/>
      </p:ext>
    </p:extLst>
  </p:cSld>
  <p:clrMapOvr>
    <a:masterClrMapping/>
  </p:clrMapOvr>
  <p:timing>
    <p:tnLst>
      <p:par>
        <p:cTn id="1" dur="indefinite" restart="never" nodeType="tmRoot"/>
      </p:par>
    </p:tnLst>
  </p:timing>
</p:sld>
</file>

<file path=ppt/theme/theme1.xml><?xml version="1.0" encoding="utf-8"?>
<a:theme xmlns:a="http://schemas.openxmlformats.org/drawingml/2006/main" name="Medical Devices Innovation by Slidesgo">
  <a:themeElements>
    <a:clrScheme name="Simple Light">
      <a:dk1>
        <a:srgbClr val="312D2D"/>
      </a:dk1>
      <a:lt1>
        <a:srgbClr val="F3F3F3"/>
      </a:lt1>
      <a:dk2>
        <a:srgbClr val="CAC6BB"/>
      </a:dk2>
      <a:lt2>
        <a:srgbClr val="7A7879"/>
      </a:lt2>
      <a:accent1>
        <a:srgbClr val="7CC2F8"/>
      </a:accent1>
      <a:accent2>
        <a:srgbClr val="FF6F01"/>
      </a:accent2>
      <a:accent3>
        <a:srgbClr val="F53844"/>
      </a:accent3>
      <a:accent4>
        <a:srgbClr val="FFFFFF"/>
      </a:accent4>
      <a:accent5>
        <a:srgbClr val="FFFFFF"/>
      </a:accent5>
      <a:accent6>
        <a:srgbClr val="FFFFFF"/>
      </a:accent6>
      <a:hlink>
        <a:srgbClr val="312D2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4570</TotalTime>
  <Words>907</Words>
  <Application>Microsoft Office PowerPoint</Application>
  <PresentationFormat>On-screen Show (16:9)</PresentationFormat>
  <Paragraphs>103</Paragraphs>
  <Slides>22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Inter Tight</vt:lpstr>
      <vt:lpstr>Raleway Medium</vt:lpstr>
      <vt:lpstr>Nunito Light</vt:lpstr>
      <vt:lpstr>Medical Devices Innovation by Slidesgo</vt:lpstr>
      <vt:lpstr>Biomedical Data Acquisition Course (BMD351)</vt:lpstr>
      <vt:lpstr>Biomedical Signals</vt:lpstr>
      <vt:lpstr>Brain Signals cont. </vt:lpstr>
      <vt:lpstr>EEG Activity </vt:lpstr>
      <vt:lpstr>EEG Activity </vt:lpstr>
      <vt:lpstr>EEG Activity </vt:lpstr>
      <vt:lpstr>EEG Activity </vt:lpstr>
      <vt:lpstr>EEG Activity </vt:lpstr>
      <vt:lpstr>EEG Activity </vt:lpstr>
      <vt:lpstr>EEG Recording </vt:lpstr>
      <vt:lpstr>EEG analysis</vt:lpstr>
      <vt:lpstr>Slide 12</vt:lpstr>
      <vt:lpstr>Slide 13</vt:lpstr>
      <vt:lpstr>Features </vt:lpstr>
      <vt:lpstr>Applications of EEG</vt:lpstr>
      <vt:lpstr>Biomedical Data Acquisition Sensor</vt:lpstr>
      <vt:lpstr>Biomedical Data Acquisition Sensor</vt:lpstr>
      <vt:lpstr>Slide 18</vt:lpstr>
      <vt:lpstr>Slide 19</vt:lpstr>
      <vt:lpstr>Examples of EEG Projects</vt:lpstr>
      <vt:lpstr>Examples of EEG Projects</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Devices Innovation</dc:title>
  <dc:creator>Sara El-Metwally</dc:creator>
  <cp:lastModifiedBy>Sara</cp:lastModifiedBy>
  <cp:revision>71</cp:revision>
  <dcterms:modified xsi:type="dcterms:W3CDTF">2023-10-17T19:42:29Z</dcterms:modified>
</cp:coreProperties>
</file>