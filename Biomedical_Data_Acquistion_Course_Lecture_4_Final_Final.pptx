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s/slide19.xml" ContentType="application/vnd.openxmlformats-officedocument.presentationml.slide+xml"/>
  <Override PartName="/ppt/notesSlides/notesSlide1.xml" ContentType="application/vnd.openxmlformats-officedocument.presentationml.notesSlide+xml"/>
  <Default Extension="png" ContentType="image/png"/>
  <Override PartName="/ppt/notesSlides/notesSlide2.xml" ContentType="application/vnd.openxmlformats-officedocument.presentationml.notesSlide+xml"/>
  <Override PartName="/ppt/notesSlides/notesSlide3.xml" ContentType="application/vnd.openxmlformats-officedocument.presentationml.notesSlide+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Default Extension="fntdata" ContentType="application/x-fontdata"/>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tableStyles.xml" ContentType="application/vnd.openxmlformats-officedocument.presentationml.tableStyles+xml"/>
  <Override PartName="/ppt/notesSlides/notesSlide6.xml" ContentType="application/vnd.openxmlformats-officedocument.presentationml.notesSlide+xml"/>
  <Override PartName="/ppt/notesSlides/notesSlide7.xml" ContentType="application/vnd.openxmlformats-officedocument.presentationml.notes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3" r:id="rId1"/>
  </p:sldMasterIdLst>
  <p:notesMasterIdLst>
    <p:notesMasterId r:id="rId22"/>
  </p:notesMasterIdLst>
  <p:sldIdLst>
    <p:sldId id="312" r:id="rId2"/>
    <p:sldId id="437" r:id="rId3"/>
    <p:sldId id="313" r:id="rId4"/>
    <p:sldId id="378" r:id="rId5"/>
    <p:sldId id="398" r:id="rId6"/>
    <p:sldId id="423" r:id="rId7"/>
    <p:sldId id="425" r:id="rId8"/>
    <p:sldId id="424" r:id="rId9"/>
    <p:sldId id="426" r:id="rId10"/>
    <p:sldId id="427" r:id="rId11"/>
    <p:sldId id="428" r:id="rId12"/>
    <p:sldId id="429" r:id="rId13"/>
    <p:sldId id="430" r:id="rId14"/>
    <p:sldId id="431" r:id="rId15"/>
    <p:sldId id="432" r:id="rId16"/>
    <p:sldId id="433" r:id="rId17"/>
    <p:sldId id="434" r:id="rId18"/>
    <p:sldId id="435" r:id="rId19"/>
    <p:sldId id="436" r:id="rId20"/>
    <p:sldId id="377" r:id="rId21"/>
  </p:sldIdLst>
  <p:sldSz cx="9144000" cy="5143500" type="screen16x9"/>
  <p:notesSz cx="6858000" cy="9144000"/>
  <p:embeddedFontLst>
    <p:embeddedFont>
      <p:font typeface="Inter Tight" charset="0"/>
      <p:regular r:id="rId23"/>
      <p:bold r:id="rId24"/>
      <p:italic r:id="rId25"/>
      <p:boldItalic r:id="rId26"/>
    </p:embeddedFont>
    <p:embeddedFont>
      <p:font typeface="Raleway Medium" charset="0"/>
      <p:regular r:id="rId27"/>
      <p:bold r:id="rId28"/>
      <p:italic r:id="rId29"/>
      <p:boldItalic r:id="rId3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FA629DB5-9736-4D24-9571-27663E2830E8}">
  <a:tblStyle styleId="{FA629DB5-9736-4D24-9571-27663E2830E8}"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AE1B8E7D-3443-43C5-BCC8-846303D2171B}" styleName="Table_1">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721" autoAdjust="0"/>
    <p:restoredTop sz="85842" autoAdjust="0"/>
  </p:normalViewPr>
  <p:slideViewPr>
    <p:cSldViewPr snapToGrid="0">
      <p:cViewPr varScale="1">
        <p:scale>
          <a:sx n="83" d="100"/>
          <a:sy n="83" d="100"/>
        </p:scale>
        <p:origin x="-906" y="-84"/>
      </p:cViewPr>
      <p:guideLst>
        <p:guide orient="horz" pos="1620"/>
        <p:guide pos="2880"/>
      </p:guideLst>
    </p:cSldViewPr>
  </p:slideViewPr>
  <p:notesTextViewPr>
    <p:cViewPr>
      <p:scale>
        <a:sx n="1" d="1"/>
        <a:sy n="1" d="1"/>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4.fntdata"/><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3.fntdata"/><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7.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2.fntdata"/><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1.fntdata"/><Relationship Id="rId28" Type="http://schemas.openxmlformats.org/officeDocument/2006/relationships/font" Target="fonts/font6.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font" Target="fonts/font5.fntdata"/><Relationship Id="rId30" Type="http://schemas.openxmlformats.org/officeDocument/2006/relationships/font" Target="fonts/font8.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
        <p:cNvGrpSpPr/>
        <p:nvPr/>
      </p:nvGrpSpPr>
      <p:grpSpPr>
        <a:xfrm>
          <a:off x="0" y="0"/>
          <a:ext cx="0" cy="0"/>
          <a:chOff x="0" y="0"/>
          <a:chExt cx="0" cy="0"/>
        </a:xfrm>
      </p:grpSpPr>
      <p:sp>
        <p:nvSpPr>
          <p:cNvPr id="255" name="Google Shape;255;g4dfce81f19_0_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6" name="Google Shape;256;g4dfce81f19_0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 xmlns:p14="http://schemas.microsoft.com/office/powerpoint/2010/main" val="321171316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2"/>
        <p:cNvGrpSpPr/>
        <p:nvPr/>
      </p:nvGrpSpPr>
      <p:grpSpPr>
        <a:xfrm>
          <a:off x="0" y="0"/>
          <a:ext cx="0" cy="0"/>
          <a:chOff x="0" y="0"/>
          <a:chExt cx="0" cy="0"/>
        </a:xfrm>
      </p:grpSpPr>
      <p:sp>
        <p:nvSpPr>
          <p:cNvPr id="303" name="Google Shape;303;g54dda1946d_6_3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4" name="Google Shape;304;g54dda1946d_6_3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 xmlns:p14="http://schemas.microsoft.com/office/powerpoint/2010/main" val="95977508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smtClean="0"/>
              <a:t>https://www.youtube.com/watch?v=OqNDFF1RsMU&amp;list=PLVsrfTSlZ_42OoOyhzWoDgZrL9iineZxQ&amp;index=3</a:t>
            </a:r>
          </a:p>
          <a:p>
            <a:r>
              <a:rPr lang="en-US" dirty="0" smtClean="0"/>
              <a:t>Current and volte </a:t>
            </a:r>
          </a:p>
          <a:p>
            <a:endParaRPr lang="en-US" dirty="0"/>
          </a:p>
        </p:txBody>
      </p:sp>
    </p:spTree>
    <p:extLst>
      <p:ext uri="{BB962C8B-B14F-4D97-AF65-F5344CB8AC3E}">
        <p14:creationId xmlns="" xmlns:p14="http://schemas.microsoft.com/office/powerpoint/2010/main" val="14939897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https://medium.com/@leex5202/an-unofficial-introductory-tutorial-to-myoware-muscle-sensor-development-kit-e2169948e63</a:t>
            </a:r>
            <a:endParaRPr lang="en-US" dirty="0"/>
          </a:p>
        </p:txBody>
      </p:sp>
    </p:spTree>
    <p:extLst>
      <p:ext uri="{BB962C8B-B14F-4D97-AF65-F5344CB8AC3E}">
        <p14:creationId xmlns="" xmlns:p14="http://schemas.microsoft.com/office/powerpoint/2010/main" val="425504399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smtClean="0"/>
              <a:t>https://www.kaggle.com/competitions/amp-parkinsons-disease-progression-prediction/discussion/388322</a:t>
            </a:r>
          </a:p>
          <a:p>
            <a:endParaRPr lang="en-US" dirty="0"/>
          </a:p>
        </p:txBody>
      </p:sp>
    </p:spTree>
    <p:extLst>
      <p:ext uri="{BB962C8B-B14F-4D97-AF65-F5344CB8AC3E}">
        <p14:creationId xmlns="" xmlns:p14="http://schemas.microsoft.com/office/powerpoint/2010/main" val="315434353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 xmlns:p14="http://schemas.microsoft.com/office/powerpoint/2010/main" val="65431540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smtClean="0"/>
              <a:t>How many cycles</a:t>
            </a:r>
            <a:r>
              <a:rPr lang="en-US" baseline="0" dirty="0" smtClean="0"/>
              <a:t> activity has in a second. </a:t>
            </a:r>
          </a:p>
          <a:p>
            <a:r>
              <a:rPr lang="en-US" baseline="0" dirty="0" smtClean="0"/>
              <a:t>How waveform looks spike, sharp, duration of the wave microseconds</a:t>
            </a:r>
          </a:p>
          <a:p>
            <a:r>
              <a:rPr lang="en-US" baseline="0" dirty="0" smtClean="0"/>
              <a:t>Amplitude = height of the wave in microvolt.  </a:t>
            </a:r>
          </a:p>
        </p:txBody>
      </p:sp>
    </p:spTree>
    <p:extLst>
      <p:ext uri="{BB962C8B-B14F-4D97-AF65-F5344CB8AC3E}">
        <p14:creationId xmlns="" xmlns:p14="http://schemas.microsoft.com/office/powerpoint/2010/main" val="323786979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713225" y="898850"/>
            <a:ext cx="4528800" cy="2502900"/>
          </a:xfrm>
          <a:prstGeom prst="rect">
            <a:avLst/>
          </a:prstGeom>
        </p:spPr>
        <p:txBody>
          <a:bodyPr spcFirstLastPara="1" wrap="square" lIns="91425" tIns="91425" rIns="91425" bIns="91425" anchor="b" anchorCtr="0">
            <a:noAutofit/>
          </a:bodyPr>
          <a:lstStyle>
            <a:lvl1pPr lvl="0" algn="l">
              <a:spcBef>
                <a:spcPts val="0"/>
              </a:spcBef>
              <a:spcAft>
                <a:spcPts val="0"/>
              </a:spcAft>
              <a:buClr>
                <a:srgbClr val="191919"/>
              </a:buClr>
              <a:buSzPts val="5200"/>
              <a:buNone/>
              <a:defRPr sz="500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a:endParaRPr/>
          </a:p>
        </p:txBody>
      </p:sp>
      <p:sp>
        <p:nvSpPr>
          <p:cNvPr id="10" name="Google Shape;10;p2"/>
          <p:cNvSpPr txBox="1">
            <a:spLocks noGrp="1"/>
          </p:cNvSpPr>
          <p:nvPr>
            <p:ph type="subTitle" idx="1"/>
          </p:nvPr>
        </p:nvSpPr>
        <p:spPr>
          <a:xfrm>
            <a:off x="713225" y="3747175"/>
            <a:ext cx="4528800" cy="4758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200"/>
              <a:buNone/>
              <a:defRPr sz="1600">
                <a:solidFill>
                  <a:schemeClr val="dk1"/>
                </a:solidFill>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1"/>
        <p:cNvGrpSpPr/>
        <p:nvPr/>
      </p:nvGrpSpPr>
      <p:grpSpPr>
        <a:xfrm>
          <a:off x="0" y="0"/>
          <a:ext cx="0" cy="0"/>
          <a:chOff x="0" y="0"/>
          <a:chExt cx="0" cy="0"/>
        </a:xfrm>
      </p:grpSpPr>
      <p:sp>
        <p:nvSpPr>
          <p:cNvPr id="12" name="Google Shape;12;p3"/>
          <p:cNvSpPr txBox="1">
            <a:spLocks noGrp="1"/>
          </p:cNvSpPr>
          <p:nvPr>
            <p:ph type="title"/>
          </p:nvPr>
        </p:nvSpPr>
        <p:spPr>
          <a:xfrm>
            <a:off x="713225" y="2785050"/>
            <a:ext cx="3938400" cy="916500"/>
          </a:xfrm>
          <a:prstGeom prst="rect">
            <a:avLst/>
          </a:prstGeom>
        </p:spPr>
        <p:txBody>
          <a:bodyPr spcFirstLastPara="1" wrap="square" lIns="91425" tIns="91425" rIns="91425" bIns="91425" anchor="t" anchorCtr="0">
            <a:noAutofit/>
          </a:bodyPr>
          <a:lstStyle>
            <a:lvl1pPr lvl="0" algn="l">
              <a:spcBef>
                <a:spcPts val="0"/>
              </a:spcBef>
              <a:spcAft>
                <a:spcPts val="0"/>
              </a:spcAft>
              <a:buSzPts val="3600"/>
              <a:buNone/>
              <a:defRPr sz="5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3" name="Google Shape;13;p3"/>
          <p:cNvSpPr txBox="1">
            <a:spLocks noGrp="1"/>
          </p:cNvSpPr>
          <p:nvPr>
            <p:ph type="title" idx="2" hasCustomPrompt="1"/>
          </p:nvPr>
        </p:nvSpPr>
        <p:spPr>
          <a:xfrm>
            <a:off x="713225" y="1307150"/>
            <a:ext cx="1122900" cy="1122900"/>
          </a:xfrm>
          <a:prstGeom prst="rect">
            <a:avLst/>
          </a:prstGeom>
          <a:solidFill>
            <a:schemeClr val="accent1"/>
          </a:solidFill>
        </p:spPr>
        <p:txBody>
          <a:bodyPr spcFirstLastPara="1" wrap="square" lIns="91425" tIns="91425" rIns="91425" bIns="91425" anchor="ctr" anchorCtr="0">
            <a:noAutofit/>
          </a:bodyPr>
          <a:lstStyle>
            <a:lvl1pPr lvl="0" algn="ctr" rtl="0">
              <a:spcBef>
                <a:spcPts val="0"/>
              </a:spcBef>
              <a:spcAft>
                <a:spcPts val="0"/>
              </a:spcAft>
              <a:buClr>
                <a:schemeClr val="lt1"/>
              </a:buClr>
              <a:buSzPts val="6000"/>
              <a:buNone/>
              <a:defRPr sz="5000"/>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grpSp>
        <p:nvGrpSpPr>
          <p:cNvPr id="14" name="Google Shape;14;p3"/>
          <p:cNvGrpSpPr/>
          <p:nvPr/>
        </p:nvGrpSpPr>
        <p:grpSpPr>
          <a:xfrm>
            <a:off x="262800" y="258750"/>
            <a:ext cx="8618400" cy="4664400"/>
            <a:chOff x="262800" y="258750"/>
            <a:chExt cx="8618400" cy="4664400"/>
          </a:xfrm>
        </p:grpSpPr>
        <p:sp>
          <p:nvSpPr>
            <p:cNvPr id="15" name="Google Shape;15;p3"/>
            <p:cNvSpPr/>
            <p:nvPr/>
          </p:nvSpPr>
          <p:spPr>
            <a:xfrm>
              <a:off x="262800" y="258750"/>
              <a:ext cx="8618400" cy="46260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 name="Google Shape;16;p3"/>
            <p:cNvSpPr/>
            <p:nvPr/>
          </p:nvSpPr>
          <p:spPr>
            <a:xfrm>
              <a:off x="713225" y="4846350"/>
              <a:ext cx="1022100" cy="768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7"/>
        <p:cNvGrpSpPr/>
        <p:nvPr/>
      </p:nvGrpSpPr>
      <p:grpSpPr>
        <a:xfrm>
          <a:off x="0" y="0"/>
          <a:ext cx="0" cy="0"/>
          <a:chOff x="0" y="0"/>
          <a:chExt cx="0" cy="0"/>
        </a:xfrm>
      </p:grpSpPr>
      <p:sp>
        <p:nvSpPr>
          <p:cNvPr id="18" name="Google Shape;18;p4"/>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200"/>
              <a:buNone/>
              <a:defRPr/>
            </a:lvl1pPr>
            <a:lvl2pPr lvl="1" rtl="0">
              <a:spcBef>
                <a:spcPts val="0"/>
              </a:spcBef>
              <a:spcAft>
                <a:spcPts val="0"/>
              </a:spcAft>
              <a:buSzPts val="3700"/>
              <a:buNone/>
              <a:defRPr/>
            </a:lvl2pPr>
            <a:lvl3pPr lvl="2" rtl="0">
              <a:spcBef>
                <a:spcPts val="0"/>
              </a:spcBef>
              <a:spcAft>
                <a:spcPts val="0"/>
              </a:spcAft>
              <a:buSzPts val="3700"/>
              <a:buNone/>
              <a:defRPr/>
            </a:lvl3pPr>
            <a:lvl4pPr lvl="3" rtl="0">
              <a:spcBef>
                <a:spcPts val="0"/>
              </a:spcBef>
              <a:spcAft>
                <a:spcPts val="0"/>
              </a:spcAft>
              <a:buSzPts val="3700"/>
              <a:buNone/>
              <a:defRPr/>
            </a:lvl4pPr>
            <a:lvl5pPr lvl="4" rtl="0">
              <a:spcBef>
                <a:spcPts val="0"/>
              </a:spcBef>
              <a:spcAft>
                <a:spcPts val="0"/>
              </a:spcAft>
              <a:buSzPts val="3700"/>
              <a:buNone/>
              <a:defRPr/>
            </a:lvl5pPr>
            <a:lvl6pPr lvl="5" rtl="0">
              <a:spcBef>
                <a:spcPts val="0"/>
              </a:spcBef>
              <a:spcAft>
                <a:spcPts val="0"/>
              </a:spcAft>
              <a:buSzPts val="3700"/>
              <a:buNone/>
              <a:defRPr/>
            </a:lvl6pPr>
            <a:lvl7pPr lvl="6" rtl="0">
              <a:spcBef>
                <a:spcPts val="0"/>
              </a:spcBef>
              <a:spcAft>
                <a:spcPts val="0"/>
              </a:spcAft>
              <a:buSzPts val="3700"/>
              <a:buNone/>
              <a:defRPr/>
            </a:lvl7pPr>
            <a:lvl8pPr lvl="7" rtl="0">
              <a:spcBef>
                <a:spcPts val="0"/>
              </a:spcBef>
              <a:spcAft>
                <a:spcPts val="0"/>
              </a:spcAft>
              <a:buSzPts val="3700"/>
              <a:buNone/>
              <a:defRPr/>
            </a:lvl8pPr>
            <a:lvl9pPr lvl="8" rtl="0">
              <a:spcBef>
                <a:spcPts val="0"/>
              </a:spcBef>
              <a:spcAft>
                <a:spcPts val="0"/>
              </a:spcAft>
              <a:buSzPts val="3700"/>
              <a:buNone/>
              <a:defRPr/>
            </a:lvl9pPr>
          </a:lstStyle>
          <a:p>
            <a:endParaRPr/>
          </a:p>
        </p:txBody>
      </p:sp>
      <p:sp>
        <p:nvSpPr>
          <p:cNvPr id="19" name="Google Shape;19;p4"/>
          <p:cNvSpPr txBox="1">
            <a:spLocks noGrp="1"/>
          </p:cNvSpPr>
          <p:nvPr>
            <p:ph type="body" idx="1"/>
          </p:nvPr>
        </p:nvSpPr>
        <p:spPr>
          <a:xfrm>
            <a:off x="720000" y="1215751"/>
            <a:ext cx="7704000" cy="405900"/>
          </a:xfrm>
          <a:prstGeom prst="rect">
            <a:avLst/>
          </a:prstGeom>
        </p:spPr>
        <p:txBody>
          <a:bodyPr spcFirstLastPara="1" wrap="square" lIns="91425" tIns="91425" rIns="91425" bIns="91425" anchor="t" anchorCtr="0">
            <a:noAutofit/>
          </a:bodyPr>
          <a:lstStyle>
            <a:lvl1pPr marL="457200" lvl="0" indent="-304800" rtl="0">
              <a:spcBef>
                <a:spcPts val="0"/>
              </a:spcBef>
              <a:spcAft>
                <a:spcPts val="0"/>
              </a:spcAft>
              <a:buSzPts val="1200"/>
              <a:buFont typeface="Nunito Light"/>
              <a:buChar char="●"/>
              <a:defRPr/>
            </a:lvl1pPr>
            <a:lvl2pPr marL="914400" lvl="1" indent="-304800" rtl="0">
              <a:lnSpc>
                <a:spcPct val="100000"/>
              </a:lnSpc>
              <a:spcBef>
                <a:spcPts val="0"/>
              </a:spcBef>
              <a:spcAft>
                <a:spcPts val="0"/>
              </a:spcAft>
              <a:buSzPts val="1200"/>
              <a:buFont typeface="Nunito Light"/>
              <a:buChar char="○"/>
              <a:defRPr/>
            </a:lvl2pPr>
            <a:lvl3pPr marL="1371600" lvl="2" indent="-304800" rtl="0">
              <a:lnSpc>
                <a:spcPct val="100000"/>
              </a:lnSpc>
              <a:spcBef>
                <a:spcPts val="0"/>
              </a:spcBef>
              <a:spcAft>
                <a:spcPts val="0"/>
              </a:spcAft>
              <a:buSzPts val="1200"/>
              <a:buFont typeface="Nunito Light"/>
              <a:buChar char="■"/>
              <a:defRPr/>
            </a:lvl3pPr>
            <a:lvl4pPr marL="1828800" lvl="3" indent="-304800" rtl="0">
              <a:lnSpc>
                <a:spcPct val="100000"/>
              </a:lnSpc>
              <a:spcBef>
                <a:spcPts val="0"/>
              </a:spcBef>
              <a:spcAft>
                <a:spcPts val="0"/>
              </a:spcAft>
              <a:buSzPts val="1200"/>
              <a:buFont typeface="Nunito Light"/>
              <a:buChar char="●"/>
              <a:defRPr/>
            </a:lvl4pPr>
            <a:lvl5pPr marL="2286000" lvl="4" indent="-304800" rtl="0">
              <a:lnSpc>
                <a:spcPct val="100000"/>
              </a:lnSpc>
              <a:spcBef>
                <a:spcPts val="0"/>
              </a:spcBef>
              <a:spcAft>
                <a:spcPts val="0"/>
              </a:spcAft>
              <a:buSzPts val="1200"/>
              <a:buFont typeface="Nunito Light"/>
              <a:buChar char="○"/>
              <a:defRPr/>
            </a:lvl5pPr>
            <a:lvl6pPr marL="2743200" lvl="5" indent="-304800" rtl="0">
              <a:lnSpc>
                <a:spcPct val="100000"/>
              </a:lnSpc>
              <a:spcBef>
                <a:spcPts val="0"/>
              </a:spcBef>
              <a:spcAft>
                <a:spcPts val="0"/>
              </a:spcAft>
              <a:buSzPts val="1200"/>
              <a:buFont typeface="Nunito Light"/>
              <a:buChar char="■"/>
              <a:defRPr/>
            </a:lvl6pPr>
            <a:lvl7pPr marL="3200400" lvl="6" indent="-304800" rtl="0">
              <a:lnSpc>
                <a:spcPct val="100000"/>
              </a:lnSpc>
              <a:spcBef>
                <a:spcPts val="0"/>
              </a:spcBef>
              <a:spcAft>
                <a:spcPts val="0"/>
              </a:spcAft>
              <a:buSzPts val="1200"/>
              <a:buFont typeface="Nunito Light"/>
              <a:buChar char="●"/>
              <a:defRPr/>
            </a:lvl7pPr>
            <a:lvl8pPr marL="3657600" lvl="7" indent="-304800" rtl="0">
              <a:lnSpc>
                <a:spcPct val="100000"/>
              </a:lnSpc>
              <a:spcBef>
                <a:spcPts val="0"/>
              </a:spcBef>
              <a:spcAft>
                <a:spcPts val="0"/>
              </a:spcAft>
              <a:buSzPts val="1200"/>
              <a:buFont typeface="Nunito Light"/>
              <a:buChar char="○"/>
              <a:defRPr/>
            </a:lvl8pPr>
            <a:lvl9pPr marL="4114800" lvl="8" indent="-304800" rtl="0">
              <a:lnSpc>
                <a:spcPct val="100000"/>
              </a:lnSpc>
              <a:spcBef>
                <a:spcPts val="0"/>
              </a:spcBef>
              <a:spcAft>
                <a:spcPts val="0"/>
              </a:spcAft>
              <a:buSzPts val="1200"/>
              <a:buFont typeface="Nunito Light"/>
              <a:buChar char="■"/>
              <a:defRPr/>
            </a:lvl9pPr>
          </a:lstStyle>
          <a:p>
            <a:endParaRPr/>
          </a:p>
        </p:txBody>
      </p:sp>
      <p:grpSp>
        <p:nvGrpSpPr>
          <p:cNvPr id="20" name="Google Shape;20;p4"/>
          <p:cNvGrpSpPr/>
          <p:nvPr/>
        </p:nvGrpSpPr>
        <p:grpSpPr>
          <a:xfrm>
            <a:off x="0" y="224200"/>
            <a:ext cx="9144000" cy="4660550"/>
            <a:chOff x="0" y="224200"/>
            <a:chExt cx="9144000" cy="4660550"/>
          </a:xfrm>
        </p:grpSpPr>
        <p:cxnSp>
          <p:nvCxnSpPr>
            <p:cNvPr id="21" name="Google Shape;21;p4"/>
            <p:cNvCxnSpPr/>
            <p:nvPr/>
          </p:nvCxnSpPr>
          <p:spPr>
            <a:xfrm>
              <a:off x="0" y="262600"/>
              <a:ext cx="9144000" cy="0"/>
            </a:xfrm>
            <a:prstGeom prst="straightConnector1">
              <a:avLst/>
            </a:prstGeom>
            <a:noFill/>
            <a:ln w="9525" cap="flat" cmpd="sng">
              <a:solidFill>
                <a:schemeClr val="dk1"/>
              </a:solidFill>
              <a:prstDash val="solid"/>
              <a:round/>
              <a:headEnd type="none" w="med" len="med"/>
              <a:tailEnd type="none" w="med" len="med"/>
            </a:ln>
          </p:spPr>
        </p:cxnSp>
        <p:sp>
          <p:nvSpPr>
            <p:cNvPr id="22" name="Google Shape;22;p4"/>
            <p:cNvSpPr/>
            <p:nvPr/>
          </p:nvSpPr>
          <p:spPr>
            <a:xfrm>
              <a:off x="7408800" y="224200"/>
              <a:ext cx="1022100" cy="768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cxnSp>
          <p:nvCxnSpPr>
            <p:cNvPr id="23" name="Google Shape;23;p4"/>
            <p:cNvCxnSpPr/>
            <p:nvPr/>
          </p:nvCxnSpPr>
          <p:spPr>
            <a:xfrm>
              <a:off x="0" y="4884750"/>
              <a:ext cx="9144000" cy="0"/>
            </a:xfrm>
            <a:prstGeom prst="straightConnector1">
              <a:avLst/>
            </a:prstGeom>
            <a:noFill/>
            <a:ln w="9525" cap="flat" cmpd="sng">
              <a:solidFill>
                <a:schemeClr val="dk1"/>
              </a:solidFill>
              <a:prstDash val="solid"/>
              <a:round/>
              <a:headEnd type="none" w="med" len="med"/>
              <a:tailEnd type="none" w="med" len="med"/>
            </a:ln>
          </p:spPr>
        </p:cxn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66"/>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ackground">
  <p:cSld name="CUSTOM_9">
    <p:spTree>
      <p:nvGrpSpPr>
        <p:cNvPr id="1" name="Shape 239"/>
        <p:cNvGrpSpPr/>
        <p:nvPr/>
      </p:nvGrpSpPr>
      <p:grpSpPr>
        <a:xfrm>
          <a:off x="0" y="0"/>
          <a:ext cx="0" cy="0"/>
          <a:chOff x="0" y="0"/>
          <a:chExt cx="0" cy="0"/>
        </a:xfrm>
      </p:grpSpPr>
      <p:grpSp>
        <p:nvGrpSpPr>
          <p:cNvPr id="240" name="Google Shape;240;p33"/>
          <p:cNvGrpSpPr/>
          <p:nvPr/>
        </p:nvGrpSpPr>
        <p:grpSpPr>
          <a:xfrm>
            <a:off x="262800" y="258750"/>
            <a:ext cx="8618400" cy="4664400"/>
            <a:chOff x="262800" y="258750"/>
            <a:chExt cx="8618400" cy="4664400"/>
          </a:xfrm>
        </p:grpSpPr>
        <p:sp>
          <p:nvSpPr>
            <p:cNvPr id="241" name="Google Shape;241;p33"/>
            <p:cNvSpPr/>
            <p:nvPr/>
          </p:nvSpPr>
          <p:spPr>
            <a:xfrm>
              <a:off x="262800" y="258750"/>
              <a:ext cx="8618400" cy="46260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42" name="Google Shape;242;p33"/>
            <p:cNvSpPr/>
            <p:nvPr/>
          </p:nvSpPr>
          <p:spPr>
            <a:xfrm>
              <a:off x="713225" y="4846350"/>
              <a:ext cx="1022100" cy="768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ackground 1">
  <p:cSld name="CUSTOM_9_1">
    <p:spTree>
      <p:nvGrpSpPr>
        <p:cNvPr id="1" name="Shape 243"/>
        <p:cNvGrpSpPr/>
        <p:nvPr/>
      </p:nvGrpSpPr>
      <p:grpSpPr>
        <a:xfrm>
          <a:off x="0" y="0"/>
          <a:ext cx="0" cy="0"/>
          <a:chOff x="0" y="0"/>
          <a:chExt cx="0" cy="0"/>
        </a:xfrm>
      </p:grpSpPr>
      <p:grpSp>
        <p:nvGrpSpPr>
          <p:cNvPr id="244" name="Google Shape;244;p34"/>
          <p:cNvGrpSpPr/>
          <p:nvPr/>
        </p:nvGrpSpPr>
        <p:grpSpPr>
          <a:xfrm>
            <a:off x="0" y="224200"/>
            <a:ext cx="9144000" cy="4660550"/>
            <a:chOff x="0" y="224200"/>
            <a:chExt cx="9144000" cy="4660550"/>
          </a:xfrm>
        </p:grpSpPr>
        <p:cxnSp>
          <p:nvCxnSpPr>
            <p:cNvPr id="245" name="Google Shape;245;p34"/>
            <p:cNvCxnSpPr/>
            <p:nvPr/>
          </p:nvCxnSpPr>
          <p:spPr>
            <a:xfrm>
              <a:off x="0" y="262600"/>
              <a:ext cx="9144000" cy="0"/>
            </a:xfrm>
            <a:prstGeom prst="straightConnector1">
              <a:avLst/>
            </a:prstGeom>
            <a:noFill/>
            <a:ln w="9525" cap="flat" cmpd="sng">
              <a:solidFill>
                <a:schemeClr val="dk1"/>
              </a:solidFill>
              <a:prstDash val="solid"/>
              <a:round/>
              <a:headEnd type="none" w="med" len="med"/>
              <a:tailEnd type="none" w="med" len="med"/>
            </a:ln>
          </p:spPr>
        </p:cxnSp>
        <p:sp>
          <p:nvSpPr>
            <p:cNvPr id="246" name="Google Shape;246;p34"/>
            <p:cNvSpPr/>
            <p:nvPr/>
          </p:nvSpPr>
          <p:spPr>
            <a:xfrm>
              <a:off x="7408800" y="224200"/>
              <a:ext cx="1022100" cy="768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cxnSp>
          <p:nvCxnSpPr>
            <p:cNvPr id="247" name="Google Shape;247;p34"/>
            <p:cNvCxnSpPr/>
            <p:nvPr/>
          </p:nvCxnSpPr>
          <p:spPr>
            <a:xfrm>
              <a:off x="0" y="4884750"/>
              <a:ext cx="9144000" cy="0"/>
            </a:xfrm>
            <a:prstGeom prst="straightConnector1">
              <a:avLst/>
            </a:prstGeom>
            <a:noFill/>
            <a:ln w="9525" cap="flat" cmpd="sng">
              <a:solidFill>
                <a:schemeClr val="dk1"/>
              </a:solidFill>
              <a:prstDash val="solid"/>
              <a:round/>
              <a:headEnd type="none" w="med" len="med"/>
              <a:tailEnd type="none" w="med" len="med"/>
            </a:ln>
          </p:spPr>
        </p:cxnSp>
      </p:gr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445025"/>
            <a:ext cx="7717500" cy="5727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Clr>
                <a:schemeClr val="dk1"/>
              </a:buClr>
              <a:buSzPts val="3200"/>
              <a:buFont typeface="Inter Tight"/>
              <a:buNone/>
              <a:defRPr sz="3200" b="1">
                <a:solidFill>
                  <a:schemeClr val="dk1"/>
                </a:solidFill>
                <a:latin typeface="Inter Tight"/>
                <a:ea typeface="Inter Tight"/>
                <a:cs typeface="Inter Tight"/>
                <a:sym typeface="Inter Tight"/>
              </a:defRPr>
            </a:lvl1pPr>
            <a:lvl2pPr lvl="1" algn="ctr" rtl="0">
              <a:spcBef>
                <a:spcPts val="0"/>
              </a:spcBef>
              <a:spcAft>
                <a:spcPts val="0"/>
              </a:spcAft>
              <a:buClr>
                <a:schemeClr val="dk1"/>
              </a:buClr>
              <a:buSzPts val="3700"/>
              <a:buFont typeface="Inter Tight"/>
              <a:buNone/>
              <a:defRPr sz="3700" b="1">
                <a:solidFill>
                  <a:schemeClr val="dk1"/>
                </a:solidFill>
                <a:latin typeface="Inter Tight"/>
                <a:ea typeface="Inter Tight"/>
                <a:cs typeface="Inter Tight"/>
                <a:sym typeface="Inter Tight"/>
              </a:defRPr>
            </a:lvl2pPr>
            <a:lvl3pPr lvl="2" algn="ctr" rtl="0">
              <a:spcBef>
                <a:spcPts val="0"/>
              </a:spcBef>
              <a:spcAft>
                <a:spcPts val="0"/>
              </a:spcAft>
              <a:buClr>
                <a:schemeClr val="dk1"/>
              </a:buClr>
              <a:buSzPts val="3700"/>
              <a:buFont typeface="Inter Tight"/>
              <a:buNone/>
              <a:defRPr sz="3700" b="1">
                <a:solidFill>
                  <a:schemeClr val="dk1"/>
                </a:solidFill>
                <a:latin typeface="Inter Tight"/>
                <a:ea typeface="Inter Tight"/>
                <a:cs typeface="Inter Tight"/>
                <a:sym typeface="Inter Tight"/>
              </a:defRPr>
            </a:lvl3pPr>
            <a:lvl4pPr lvl="3" algn="ctr" rtl="0">
              <a:spcBef>
                <a:spcPts val="0"/>
              </a:spcBef>
              <a:spcAft>
                <a:spcPts val="0"/>
              </a:spcAft>
              <a:buClr>
                <a:schemeClr val="dk1"/>
              </a:buClr>
              <a:buSzPts val="3700"/>
              <a:buFont typeface="Inter Tight"/>
              <a:buNone/>
              <a:defRPr sz="3700" b="1">
                <a:solidFill>
                  <a:schemeClr val="dk1"/>
                </a:solidFill>
                <a:latin typeface="Inter Tight"/>
                <a:ea typeface="Inter Tight"/>
                <a:cs typeface="Inter Tight"/>
                <a:sym typeface="Inter Tight"/>
              </a:defRPr>
            </a:lvl4pPr>
            <a:lvl5pPr lvl="4" algn="ctr" rtl="0">
              <a:spcBef>
                <a:spcPts val="0"/>
              </a:spcBef>
              <a:spcAft>
                <a:spcPts val="0"/>
              </a:spcAft>
              <a:buClr>
                <a:schemeClr val="dk1"/>
              </a:buClr>
              <a:buSzPts val="3700"/>
              <a:buFont typeface="Inter Tight"/>
              <a:buNone/>
              <a:defRPr sz="3700" b="1">
                <a:solidFill>
                  <a:schemeClr val="dk1"/>
                </a:solidFill>
                <a:latin typeface="Inter Tight"/>
                <a:ea typeface="Inter Tight"/>
                <a:cs typeface="Inter Tight"/>
                <a:sym typeface="Inter Tight"/>
              </a:defRPr>
            </a:lvl5pPr>
            <a:lvl6pPr lvl="5" algn="ctr" rtl="0">
              <a:spcBef>
                <a:spcPts val="0"/>
              </a:spcBef>
              <a:spcAft>
                <a:spcPts val="0"/>
              </a:spcAft>
              <a:buClr>
                <a:schemeClr val="dk1"/>
              </a:buClr>
              <a:buSzPts val="3700"/>
              <a:buFont typeface="Inter Tight"/>
              <a:buNone/>
              <a:defRPr sz="3700" b="1">
                <a:solidFill>
                  <a:schemeClr val="dk1"/>
                </a:solidFill>
                <a:latin typeface="Inter Tight"/>
                <a:ea typeface="Inter Tight"/>
                <a:cs typeface="Inter Tight"/>
                <a:sym typeface="Inter Tight"/>
              </a:defRPr>
            </a:lvl6pPr>
            <a:lvl7pPr lvl="6" algn="ctr" rtl="0">
              <a:spcBef>
                <a:spcPts val="0"/>
              </a:spcBef>
              <a:spcAft>
                <a:spcPts val="0"/>
              </a:spcAft>
              <a:buClr>
                <a:schemeClr val="dk1"/>
              </a:buClr>
              <a:buSzPts val="3700"/>
              <a:buFont typeface="Inter Tight"/>
              <a:buNone/>
              <a:defRPr sz="3700" b="1">
                <a:solidFill>
                  <a:schemeClr val="dk1"/>
                </a:solidFill>
                <a:latin typeface="Inter Tight"/>
                <a:ea typeface="Inter Tight"/>
                <a:cs typeface="Inter Tight"/>
                <a:sym typeface="Inter Tight"/>
              </a:defRPr>
            </a:lvl7pPr>
            <a:lvl8pPr lvl="7" algn="ctr" rtl="0">
              <a:spcBef>
                <a:spcPts val="0"/>
              </a:spcBef>
              <a:spcAft>
                <a:spcPts val="0"/>
              </a:spcAft>
              <a:buClr>
                <a:schemeClr val="dk1"/>
              </a:buClr>
              <a:buSzPts val="3700"/>
              <a:buFont typeface="Inter Tight"/>
              <a:buNone/>
              <a:defRPr sz="3700" b="1">
                <a:solidFill>
                  <a:schemeClr val="dk1"/>
                </a:solidFill>
                <a:latin typeface="Inter Tight"/>
                <a:ea typeface="Inter Tight"/>
                <a:cs typeface="Inter Tight"/>
                <a:sym typeface="Inter Tight"/>
              </a:defRPr>
            </a:lvl8pPr>
            <a:lvl9pPr lvl="8" algn="ctr" rtl="0">
              <a:spcBef>
                <a:spcPts val="0"/>
              </a:spcBef>
              <a:spcAft>
                <a:spcPts val="0"/>
              </a:spcAft>
              <a:buClr>
                <a:schemeClr val="dk1"/>
              </a:buClr>
              <a:buSzPts val="3700"/>
              <a:buFont typeface="Inter Tight"/>
              <a:buNone/>
              <a:defRPr sz="3700" b="1">
                <a:solidFill>
                  <a:schemeClr val="dk1"/>
                </a:solidFill>
                <a:latin typeface="Inter Tight"/>
                <a:ea typeface="Inter Tight"/>
                <a:cs typeface="Inter Tight"/>
                <a:sym typeface="Inter Tight"/>
              </a:defRPr>
            </a:lvl9pPr>
          </a:lstStyle>
          <a:p>
            <a:endParaRPr/>
          </a:p>
        </p:txBody>
      </p:sp>
      <p:sp>
        <p:nvSpPr>
          <p:cNvPr id="7" name="Google Shape;7;p1"/>
          <p:cNvSpPr txBox="1">
            <a:spLocks noGrp="1"/>
          </p:cNvSpPr>
          <p:nvPr>
            <p:ph type="body" idx="1"/>
          </p:nvPr>
        </p:nvSpPr>
        <p:spPr>
          <a:xfrm>
            <a:off x="713225" y="1152475"/>
            <a:ext cx="7717500" cy="3416400"/>
          </a:xfrm>
          <a:prstGeom prst="rect">
            <a:avLst/>
          </a:prstGeom>
          <a:noFill/>
          <a:ln>
            <a:noFill/>
          </a:ln>
        </p:spPr>
        <p:txBody>
          <a:bodyPr spcFirstLastPara="1" wrap="square" lIns="91425" tIns="91425" rIns="91425" bIns="91425" anchor="t" anchorCtr="0">
            <a:noAutofit/>
          </a:bodyPr>
          <a:lstStyle>
            <a:lvl1pPr marL="457200" lvl="0" indent="-304800">
              <a:lnSpc>
                <a:spcPct val="100000"/>
              </a:lnSpc>
              <a:spcBef>
                <a:spcPts val="0"/>
              </a:spcBef>
              <a:spcAft>
                <a:spcPts val="0"/>
              </a:spcAft>
              <a:buClr>
                <a:schemeClr val="dk1"/>
              </a:buClr>
              <a:buSzPts val="1200"/>
              <a:buFont typeface="Raleway Medium"/>
              <a:buChar char="●"/>
              <a:defRPr sz="1200">
                <a:solidFill>
                  <a:schemeClr val="dk1"/>
                </a:solidFill>
                <a:latin typeface="Raleway Medium"/>
                <a:ea typeface="Raleway Medium"/>
                <a:cs typeface="Raleway Medium"/>
                <a:sym typeface="Raleway Medium"/>
              </a:defRPr>
            </a:lvl1pPr>
            <a:lvl2pPr marL="914400" lvl="1" indent="-304800">
              <a:lnSpc>
                <a:spcPct val="100000"/>
              </a:lnSpc>
              <a:spcBef>
                <a:spcPts val="0"/>
              </a:spcBef>
              <a:spcAft>
                <a:spcPts val="0"/>
              </a:spcAft>
              <a:buClr>
                <a:schemeClr val="dk1"/>
              </a:buClr>
              <a:buSzPts val="1200"/>
              <a:buFont typeface="Raleway Medium"/>
              <a:buChar char="○"/>
              <a:defRPr sz="1200">
                <a:solidFill>
                  <a:schemeClr val="dk1"/>
                </a:solidFill>
                <a:latin typeface="Raleway Medium"/>
                <a:ea typeface="Raleway Medium"/>
                <a:cs typeface="Raleway Medium"/>
                <a:sym typeface="Raleway Medium"/>
              </a:defRPr>
            </a:lvl2pPr>
            <a:lvl3pPr marL="1371600" lvl="2" indent="-304800">
              <a:lnSpc>
                <a:spcPct val="100000"/>
              </a:lnSpc>
              <a:spcBef>
                <a:spcPts val="0"/>
              </a:spcBef>
              <a:spcAft>
                <a:spcPts val="0"/>
              </a:spcAft>
              <a:buClr>
                <a:schemeClr val="dk1"/>
              </a:buClr>
              <a:buSzPts val="1200"/>
              <a:buFont typeface="Raleway Medium"/>
              <a:buChar char="■"/>
              <a:defRPr sz="1200">
                <a:solidFill>
                  <a:schemeClr val="dk1"/>
                </a:solidFill>
                <a:latin typeface="Raleway Medium"/>
                <a:ea typeface="Raleway Medium"/>
                <a:cs typeface="Raleway Medium"/>
                <a:sym typeface="Raleway Medium"/>
              </a:defRPr>
            </a:lvl3pPr>
            <a:lvl4pPr marL="1828800" lvl="3" indent="-304800">
              <a:lnSpc>
                <a:spcPct val="100000"/>
              </a:lnSpc>
              <a:spcBef>
                <a:spcPts val="0"/>
              </a:spcBef>
              <a:spcAft>
                <a:spcPts val="0"/>
              </a:spcAft>
              <a:buClr>
                <a:schemeClr val="dk1"/>
              </a:buClr>
              <a:buSzPts val="1200"/>
              <a:buFont typeface="Raleway Medium"/>
              <a:buChar char="●"/>
              <a:defRPr sz="1200">
                <a:solidFill>
                  <a:schemeClr val="dk1"/>
                </a:solidFill>
                <a:latin typeface="Raleway Medium"/>
                <a:ea typeface="Raleway Medium"/>
                <a:cs typeface="Raleway Medium"/>
                <a:sym typeface="Raleway Medium"/>
              </a:defRPr>
            </a:lvl4pPr>
            <a:lvl5pPr marL="2286000" lvl="4" indent="-304800">
              <a:lnSpc>
                <a:spcPct val="100000"/>
              </a:lnSpc>
              <a:spcBef>
                <a:spcPts val="0"/>
              </a:spcBef>
              <a:spcAft>
                <a:spcPts val="0"/>
              </a:spcAft>
              <a:buClr>
                <a:schemeClr val="dk1"/>
              </a:buClr>
              <a:buSzPts val="1200"/>
              <a:buFont typeface="Raleway Medium"/>
              <a:buChar char="○"/>
              <a:defRPr sz="1200">
                <a:solidFill>
                  <a:schemeClr val="dk1"/>
                </a:solidFill>
                <a:latin typeface="Raleway Medium"/>
                <a:ea typeface="Raleway Medium"/>
                <a:cs typeface="Raleway Medium"/>
                <a:sym typeface="Raleway Medium"/>
              </a:defRPr>
            </a:lvl5pPr>
            <a:lvl6pPr marL="2743200" lvl="5" indent="-304800">
              <a:lnSpc>
                <a:spcPct val="100000"/>
              </a:lnSpc>
              <a:spcBef>
                <a:spcPts val="0"/>
              </a:spcBef>
              <a:spcAft>
                <a:spcPts val="0"/>
              </a:spcAft>
              <a:buClr>
                <a:schemeClr val="dk1"/>
              </a:buClr>
              <a:buSzPts val="1200"/>
              <a:buFont typeface="Raleway Medium"/>
              <a:buChar char="■"/>
              <a:defRPr sz="1200">
                <a:solidFill>
                  <a:schemeClr val="dk1"/>
                </a:solidFill>
                <a:latin typeface="Raleway Medium"/>
                <a:ea typeface="Raleway Medium"/>
                <a:cs typeface="Raleway Medium"/>
                <a:sym typeface="Raleway Medium"/>
              </a:defRPr>
            </a:lvl6pPr>
            <a:lvl7pPr marL="3200400" lvl="6" indent="-304800">
              <a:lnSpc>
                <a:spcPct val="100000"/>
              </a:lnSpc>
              <a:spcBef>
                <a:spcPts val="0"/>
              </a:spcBef>
              <a:spcAft>
                <a:spcPts val="0"/>
              </a:spcAft>
              <a:buClr>
                <a:schemeClr val="dk1"/>
              </a:buClr>
              <a:buSzPts val="1200"/>
              <a:buFont typeface="Raleway Medium"/>
              <a:buChar char="●"/>
              <a:defRPr sz="1200">
                <a:solidFill>
                  <a:schemeClr val="dk1"/>
                </a:solidFill>
                <a:latin typeface="Raleway Medium"/>
                <a:ea typeface="Raleway Medium"/>
                <a:cs typeface="Raleway Medium"/>
                <a:sym typeface="Raleway Medium"/>
              </a:defRPr>
            </a:lvl7pPr>
            <a:lvl8pPr marL="3657600" lvl="7" indent="-304800">
              <a:lnSpc>
                <a:spcPct val="100000"/>
              </a:lnSpc>
              <a:spcBef>
                <a:spcPts val="0"/>
              </a:spcBef>
              <a:spcAft>
                <a:spcPts val="0"/>
              </a:spcAft>
              <a:buClr>
                <a:schemeClr val="dk1"/>
              </a:buClr>
              <a:buSzPts val="1200"/>
              <a:buFont typeface="Raleway Medium"/>
              <a:buChar char="○"/>
              <a:defRPr sz="1200">
                <a:solidFill>
                  <a:schemeClr val="dk1"/>
                </a:solidFill>
                <a:latin typeface="Raleway Medium"/>
                <a:ea typeface="Raleway Medium"/>
                <a:cs typeface="Raleway Medium"/>
                <a:sym typeface="Raleway Medium"/>
              </a:defRPr>
            </a:lvl8pPr>
            <a:lvl9pPr marL="4114800" lvl="8" indent="-304800">
              <a:lnSpc>
                <a:spcPct val="100000"/>
              </a:lnSpc>
              <a:spcBef>
                <a:spcPts val="0"/>
              </a:spcBef>
              <a:spcAft>
                <a:spcPts val="0"/>
              </a:spcAft>
              <a:buClr>
                <a:schemeClr val="dk1"/>
              </a:buClr>
              <a:buSzPts val="1200"/>
              <a:buFont typeface="Raleway Medium"/>
              <a:buChar char="■"/>
              <a:defRPr sz="1200">
                <a:solidFill>
                  <a:schemeClr val="dk1"/>
                </a:solidFill>
                <a:latin typeface="Raleway Medium"/>
                <a:ea typeface="Raleway Medium"/>
                <a:cs typeface="Raleway Medium"/>
                <a:sym typeface="Raleway Medium"/>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8" r:id="rId4"/>
    <p:sldLayoutId id="2147483679" r:id="rId5"/>
    <p:sldLayoutId id="2147483680" r:id="rId6"/>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6.xml"/><Relationship Id="rId1" Type="http://schemas.openxmlformats.org/officeDocument/2006/relationships/slideLayout" Target="../slideLayouts/slideLayout3.xml"/><Relationship Id="rId4" Type="http://schemas.openxmlformats.org/officeDocument/2006/relationships/hyperlink" Target="https://www.kaggle.com/datasets/bjoernjostein/stress-recognition-in-automobile-drivers" TargetMode="Externa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7"/>
        <p:cNvGrpSpPr/>
        <p:nvPr/>
      </p:nvGrpSpPr>
      <p:grpSpPr>
        <a:xfrm>
          <a:off x="0" y="0"/>
          <a:ext cx="0" cy="0"/>
          <a:chOff x="0" y="0"/>
          <a:chExt cx="0" cy="0"/>
        </a:xfrm>
      </p:grpSpPr>
      <p:sp>
        <p:nvSpPr>
          <p:cNvPr id="259" name="Google Shape;259;p38"/>
          <p:cNvSpPr txBox="1">
            <a:spLocks noGrp="1"/>
          </p:cNvSpPr>
          <p:nvPr>
            <p:ph type="ctrTitle"/>
          </p:nvPr>
        </p:nvSpPr>
        <p:spPr>
          <a:xfrm>
            <a:off x="979740" y="1808015"/>
            <a:ext cx="7206497" cy="722844"/>
          </a:xfrm>
          <a:prstGeom prst="rect">
            <a:avLst/>
          </a:prstGeom>
        </p:spPr>
        <p:txBody>
          <a:bodyPr spcFirstLastPara="1" wrap="square" lIns="91425" tIns="91425" rIns="91425" bIns="91425" anchor="b" anchorCtr="0">
            <a:noAutofit/>
          </a:bodyPr>
          <a:lstStyle/>
          <a:p>
            <a:pPr lvl="0" algn="ctr"/>
            <a:r>
              <a:rPr lang="en" sz="2800" dirty="0" smtClean="0"/>
              <a:t>Biomedical Data </a:t>
            </a:r>
            <a:r>
              <a:rPr lang="en-US" sz="2800" dirty="0"/>
              <a:t>Acquisition </a:t>
            </a:r>
            <a:r>
              <a:rPr lang="en-US" sz="2800" dirty="0" smtClean="0"/>
              <a:t>Course (</a:t>
            </a:r>
            <a:r>
              <a:rPr lang="en-US" sz="2800" dirty="0" smtClean="0">
                <a:solidFill>
                  <a:srgbClr val="FF0000"/>
                </a:solidFill>
              </a:rPr>
              <a:t>BMD351</a:t>
            </a:r>
            <a:r>
              <a:rPr lang="en-US" sz="2800" dirty="0" smtClean="0"/>
              <a:t>)</a:t>
            </a:r>
            <a:endParaRPr sz="2800" dirty="0"/>
          </a:p>
        </p:txBody>
      </p:sp>
      <p:sp>
        <p:nvSpPr>
          <p:cNvPr id="260" name="Google Shape;260;p38"/>
          <p:cNvSpPr txBox="1">
            <a:spLocks noGrp="1"/>
          </p:cNvSpPr>
          <p:nvPr>
            <p:ph type="subTitle" idx="1"/>
          </p:nvPr>
        </p:nvSpPr>
        <p:spPr>
          <a:xfrm>
            <a:off x="3069151" y="3320263"/>
            <a:ext cx="4528800" cy="475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smtClean="0"/>
              <a:t>Sara El-Sayed El-Metwally, </a:t>
            </a:r>
          </a:p>
          <a:p>
            <a:pPr marL="0" lvl="0" indent="0" algn="l" rtl="0">
              <a:spcBef>
                <a:spcPts val="0"/>
              </a:spcBef>
              <a:spcAft>
                <a:spcPts val="0"/>
              </a:spcAft>
              <a:buNone/>
            </a:pPr>
            <a:r>
              <a:rPr lang="en" dirty="0" smtClean="0"/>
              <a:t>Associate Professor, </a:t>
            </a:r>
          </a:p>
          <a:p>
            <a:pPr marL="0" lvl="0" indent="0" algn="l" rtl="0">
              <a:spcBef>
                <a:spcPts val="0"/>
              </a:spcBef>
              <a:spcAft>
                <a:spcPts val="0"/>
              </a:spcAft>
              <a:buNone/>
            </a:pPr>
            <a:r>
              <a:rPr lang="en" dirty="0" smtClean="0"/>
              <a:t>Biomedical Informatics Department. </a:t>
            </a:r>
            <a:endParaRPr dirty="0"/>
          </a:p>
        </p:txBody>
      </p:sp>
      <p:cxnSp>
        <p:nvCxnSpPr>
          <p:cNvPr id="262" name="Google Shape;262;p38"/>
          <p:cNvCxnSpPr/>
          <p:nvPr/>
        </p:nvCxnSpPr>
        <p:spPr>
          <a:xfrm>
            <a:off x="2355926" y="3101488"/>
            <a:ext cx="4559400" cy="0"/>
          </a:xfrm>
          <a:prstGeom prst="straightConnector1">
            <a:avLst/>
          </a:prstGeom>
          <a:noFill/>
          <a:ln w="9525" cap="flat" cmpd="sng">
            <a:solidFill>
              <a:schemeClr val="dk1"/>
            </a:solidFill>
            <a:prstDash val="solid"/>
            <a:round/>
            <a:headEnd type="none" w="med" len="med"/>
            <a:tailEnd type="none" w="med" len="med"/>
          </a:ln>
        </p:spPr>
      </p:cxnSp>
      <p:sp>
        <p:nvSpPr>
          <p:cNvPr id="265" name="Google Shape;265;p38"/>
          <p:cNvSpPr/>
          <p:nvPr/>
        </p:nvSpPr>
        <p:spPr>
          <a:xfrm>
            <a:off x="3177976" y="3063088"/>
            <a:ext cx="1022100" cy="768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pic>
        <p:nvPicPr>
          <p:cNvPr id="10" name="Google Shape;299;p41"/>
          <p:cNvPicPr preferRelativeResize="0"/>
          <p:nvPr/>
        </p:nvPicPr>
        <p:blipFill rotWithShape="1">
          <a:blip r:embed="rId3">
            <a:alphaModFix/>
          </a:blip>
          <a:srcRect t="89" b="89"/>
          <a:stretch/>
        </p:blipFill>
        <p:spPr>
          <a:xfrm>
            <a:off x="130877" y="2064375"/>
            <a:ext cx="1578599" cy="3079125"/>
          </a:xfrm>
          <a:prstGeom prst="rect">
            <a:avLst/>
          </a:prstGeom>
          <a:noFill/>
          <a:ln>
            <a:noFill/>
          </a:ln>
        </p:spPr>
      </p:pic>
      <p:pic>
        <p:nvPicPr>
          <p:cNvPr id="11" name="Google Shape;326;p44"/>
          <p:cNvPicPr preferRelativeResize="0"/>
          <p:nvPr/>
        </p:nvPicPr>
        <p:blipFill rotWithShape="1">
          <a:blip r:embed="rId4">
            <a:alphaModFix/>
          </a:blip>
          <a:srcRect t="119" b="129"/>
          <a:stretch/>
        </p:blipFill>
        <p:spPr>
          <a:xfrm>
            <a:off x="1723551" y="3301750"/>
            <a:ext cx="1264750" cy="1841750"/>
          </a:xfrm>
          <a:prstGeom prst="rect">
            <a:avLst/>
          </a:prstGeom>
          <a:noFill/>
          <a:ln>
            <a:noFill/>
          </a:ln>
        </p:spPr>
      </p:pic>
      <p:pic>
        <p:nvPicPr>
          <p:cNvPr id="12" name="Google Shape;309;p42"/>
          <p:cNvPicPr preferRelativeResize="0"/>
          <p:nvPr/>
        </p:nvPicPr>
        <p:blipFill rotWithShape="1">
          <a:blip r:embed="rId5">
            <a:alphaModFix/>
          </a:blip>
          <a:srcRect t="39" b="39"/>
          <a:stretch/>
        </p:blipFill>
        <p:spPr>
          <a:xfrm>
            <a:off x="6096826" y="2373348"/>
            <a:ext cx="2969625" cy="2671374"/>
          </a:xfrm>
          <a:prstGeom prst="rect">
            <a:avLst/>
          </a:prstGeom>
          <a:noFill/>
          <a:ln>
            <a:noFill/>
          </a:ln>
        </p:spPr>
      </p:pic>
      <p:pic>
        <p:nvPicPr>
          <p:cNvPr id="14" name="Picture 13"/>
          <p:cNvPicPr>
            <a:picLocks noChangeAspect="1"/>
          </p:cNvPicPr>
          <p:nvPr/>
        </p:nvPicPr>
        <p:blipFill>
          <a:blip r:embed="rId6">
            <a:clrChange>
              <a:clrFrom>
                <a:srgbClr val="FFFFFF"/>
              </a:clrFrom>
              <a:clrTo>
                <a:srgbClr val="FFFFFF">
                  <a:alpha val="0"/>
                </a:srgbClr>
              </a:clrTo>
            </a:clrChange>
          </a:blip>
          <a:stretch>
            <a:fillRect/>
          </a:stretch>
        </p:blipFill>
        <p:spPr>
          <a:xfrm>
            <a:off x="130877" y="266427"/>
            <a:ext cx="1095144" cy="1049156"/>
          </a:xfrm>
          <a:prstGeom prst="rect">
            <a:avLst/>
          </a:prstGeom>
        </p:spPr>
      </p:pic>
      <p:pic>
        <p:nvPicPr>
          <p:cNvPr id="15" name="Picture 14"/>
          <p:cNvPicPr>
            <a:picLocks noChangeAspect="1"/>
          </p:cNvPicPr>
          <p:nvPr/>
        </p:nvPicPr>
        <p:blipFill>
          <a:blip r:embed="rId7">
            <a:clrChange>
              <a:clrFrom>
                <a:srgbClr val="FFFFFF"/>
              </a:clrFrom>
              <a:clrTo>
                <a:srgbClr val="FFFFFF">
                  <a:alpha val="0"/>
                </a:srgbClr>
              </a:clrTo>
            </a:clrChange>
          </a:blip>
          <a:stretch>
            <a:fillRect/>
          </a:stretch>
        </p:blipFill>
        <p:spPr>
          <a:xfrm>
            <a:off x="7838199" y="226630"/>
            <a:ext cx="1135128" cy="1065007"/>
          </a:xfrm>
          <a:prstGeom prst="rect">
            <a:avLst/>
          </a:prstGeom>
        </p:spPr>
      </p:pic>
    </p:spTree>
    <p:extLst>
      <p:ext uri="{BB962C8B-B14F-4D97-AF65-F5344CB8AC3E}">
        <p14:creationId xmlns="" xmlns:p14="http://schemas.microsoft.com/office/powerpoint/2010/main" val="240741585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a:graphicFrameLocks noGrp="1"/>
          </p:cNvGraphicFramePr>
          <p:nvPr>
            <p:extLst>
              <p:ext uri="{D42A27DB-BD31-4B8C-83A1-F6EECF244321}">
                <p14:modId xmlns="" xmlns:p14="http://schemas.microsoft.com/office/powerpoint/2010/main" val="115237859"/>
              </p:ext>
            </p:extLst>
          </p:nvPr>
        </p:nvGraphicFramePr>
        <p:xfrm>
          <a:off x="1150904" y="1126528"/>
          <a:ext cx="6061426" cy="2966720"/>
        </p:xfrm>
        <a:graphic>
          <a:graphicData uri="http://schemas.openxmlformats.org/drawingml/2006/table">
            <a:tbl>
              <a:tblPr firstRow="1" bandRow="1">
                <a:tableStyleId>{5C22544A-7EE6-4342-B048-85BDC9FD1C3A}</a:tableStyleId>
              </a:tblPr>
              <a:tblGrid>
                <a:gridCol w="3253476">
                  <a:extLst>
                    <a:ext uri="{9D8B030D-6E8A-4147-A177-3AD203B41FA5}">
                      <a16:colId xmlns="" xmlns:a16="http://schemas.microsoft.com/office/drawing/2014/main" val="20000"/>
                    </a:ext>
                  </a:extLst>
                </a:gridCol>
                <a:gridCol w="2807950">
                  <a:extLst>
                    <a:ext uri="{9D8B030D-6E8A-4147-A177-3AD203B41FA5}">
                      <a16:colId xmlns="" xmlns:a16="http://schemas.microsoft.com/office/drawing/2014/main" val="20001"/>
                    </a:ext>
                  </a:extLst>
                </a:gridCol>
              </a:tblGrid>
              <a:tr h="370840">
                <a:tc>
                  <a:txBody>
                    <a:bodyPr/>
                    <a:lstStyle/>
                    <a:p>
                      <a:r>
                        <a:rPr lang="en-US" sz="1800" b="1" dirty="0" smtClean="0">
                          <a:latin typeface="Raleway Medium" panose="020B0604020202020204" charset="0"/>
                        </a:rPr>
                        <a:t>Activities </a:t>
                      </a:r>
                      <a:endParaRPr lang="en-US" sz="1800" b="1" dirty="0">
                        <a:latin typeface="Raleway Medium" panose="020B0604020202020204" charset="0"/>
                      </a:endParaRPr>
                    </a:p>
                  </a:txBody>
                  <a:tcPr/>
                </a:tc>
                <a:tc>
                  <a:txBody>
                    <a:bodyPr/>
                    <a:lstStyle/>
                    <a:p>
                      <a:r>
                        <a:rPr lang="en-US" sz="1800" b="1" dirty="0" smtClean="0">
                          <a:latin typeface="Raleway Medium" panose="020B0604020202020204" charset="0"/>
                        </a:rPr>
                        <a:t> Percentages </a:t>
                      </a:r>
                      <a:endParaRPr lang="en-US" sz="1800" b="1" dirty="0">
                        <a:latin typeface="Raleway Medium" panose="020B0604020202020204" charset="0"/>
                      </a:endParaRPr>
                    </a:p>
                  </a:txBody>
                  <a:tcPr/>
                </a:tc>
                <a:extLst>
                  <a:ext uri="{0D108BD9-81ED-4DB2-BD59-A6C34878D82A}">
                    <a16:rowId xmlns="" xmlns:a16="http://schemas.microsoft.com/office/drawing/2014/main" val="10000"/>
                  </a:ext>
                </a:extLst>
              </a:tr>
              <a:tr h="370840">
                <a:tc>
                  <a:txBody>
                    <a:bodyPr/>
                    <a:lstStyle/>
                    <a:p>
                      <a:r>
                        <a:rPr lang="en-US" sz="1800" b="1" dirty="0" smtClean="0">
                          <a:solidFill>
                            <a:schemeClr val="tx2">
                              <a:lumMod val="75000"/>
                            </a:schemeClr>
                          </a:solidFill>
                          <a:latin typeface="Raleway Medium" panose="020B0604020202020204" charset="0"/>
                        </a:rPr>
                        <a:t>Assignments (</a:t>
                      </a:r>
                      <a:r>
                        <a:rPr lang="en-US" sz="1800" b="1" dirty="0" smtClean="0">
                          <a:solidFill>
                            <a:srgbClr val="FF0000"/>
                          </a:solidFill>
                          <a:latin typeface="Raleway Medium" panose="020B0604020202020204" charset="0"/>
                        </a:rPr>
                        <a:t>Dr.</a:t>
                      </a:r>
                      <a:r>
                        <a:rPr lang="en-US" sz="1800" b="1" baseline="0" dirty="0" smtClean="0">
                          <a:solidFill>
                            <a:srgbClr val="FF0000"/>
                          </a:solidFill>
                          <a:latin typeface="Raleway Medium" panose="020B0604020202020204" charset="0"/>
                        </a:rPr>
                        <a:t> </a:t>
                      </a:r>
                      <a:r>
                        <a:rPr lang="en-US" sz="1800" b="1" baseline="0" dirty="0" err="1" smtClean="0">
                          <a:solidFill>
                            <a:srgbClr val="FF0000"/>
                          </a:solidFill>
                          <a:latin typeface="Raleway Medium" panose="020B0604020202020204" charset="0"/>
                        </a:rPr>
                        <a:t>Maryam</a:t>
                      </a:r>
                      <a:r>
                        <a:rPr lang="en-US" sz="1800" b="1" dirty="0" smtClean="0">
                          <a:solidFill>
                            <a:schemeClr val="tx2">
                              <a:lumMod val="75000"/>
                            </a:schemeClr>
                          </a:solidFill>
                          <a:latin typeface="Raleway Medium" panose="020B0604020202020204" charset="0"/>
                        </a:rPr>
                        <a:t>)</a:t>
                      </a:r>
                      <a:endParaRPr lang="en-US" sz="1800" b="1" dirty="0">
                        <a:solidFill>
                          <a:schemeClr val="tx2">
                            <a:lumMod val="75000"/>
                          </a:schemeClr>
                        </a:solidFill>
                        <a:latin typeface="Raleway Medium" panose="020B0604020202020204" charset="0"/>
                      </a:endParaRPr>
                    </a:p>
                  </a:txBody>
                  <a:tcPr/>
                </a:tc>
                <a:tc>
                  <a:txBody>
                    <a:bodyPr/>
                    <a:lstStyle/>
                    <a:p>
                      <a:r>
                        <a:rPr lang="en-US" sz="1800" b="1" dirty="0" smtClean="0">
                          <a:solidFill>
                            <a:schemeClr val="tx2">
                              <a:lumMod val="75000"/>
                            </a:schemeClr>
                          </a:solidFill>
                          <a:latin typeface="Raleway Medium" panose="020B0604020202020204" charset="0"/>
                        </a:rPr>
                        <a:t>10%</a:t>
                      </a:r>
                      <a:endParaRPr lang="en-US" sz="1800" b="1" dirty="0">
                        <a:solidFill>
                          <a:schemeClr val="tx2">
                            <a:lumMod val="75000"/>
                          </a:schemeClr>
                        </a:solidFill>
                        <a:latin typeface="Raleway Medium" panose="020B0604020202020204" charset="0"/>
                      </a:endParaRPr>
                    </a:p>
                  </a:txBody>
                  <a:tcPr/>
                </a:tc>
                <a:extLst>
                  <a:ext uri="{0D108BD9-81ED-4DB2-BD59-A6C34878D82A}">
                    <a16:rowId xmlns="" xmlns:a16="http://schemas.microsoft.com/office/drawing/2014/main" val="10001"/>
                  </a:ext>
                </a:extLst>
              </a:tr>
              <a:tr h="370840">
                <a:tc>
                  <a:txBody>
                    <a:bodyPr/>
                    <a:lstStyle/>
                    <a:p>
                      <a:r>
                        <a:rPr lang="en-US" sz="1800" b="1" dirty="0" smtClean="0">
                          <a:solidFill>
                            <a:schemeClr val="tx2">
                              <a:lumMod val="75000"/>
                            </a:schemeClr>
                          </a:solidFill>
                          <a:latin typeface="Raleway Medium" panose="020B0604020202020204" charset="0"/>
                        </a:rPr>
                        <a:t>Midterm</a:t>
                      </a:r>
                      <a:r>
                        <a:rPr lang="en-US" sz="1800" b="1" baseline="0" dirty="0" smtClean="0">
                          <a:solidFill>
                            <a:schemeClr val="tx2">
                              <a:lumMod val="75000"/>
                            </a:schemeClr>
                          </a:solidFill>
                          <a:latin typeface="Raleway Medium" panose="020B0604020202020204" charset="0"/>
                        </a:rPr>
                        <a:t>  </a:t>
                      </a:r>
                      <a:r>
                        <a:rPr lang="en-US" sz="1800" b="1" dirty="0" smtClean="0">
                          <a:solidFill>
                            <a:schemeClr val="tx2">
                              <a:lumMod val="75000"/>
                            </a:schemeClr>
                          </a:solidFill>
                          <a:latin typeface="Raleway Medium" panose="020B0604020202020204" charset="0"/>
                        </a:rPr>
                        <a:t>(</a:t>
                      </a:r>
                      <a:r>
                        <a:rPr lang="en-US" sz="1800" b="1" dirty="0" smtClean="0">
                          <a:solidFill>
                            <a:srgbClr val="FF0000"/>
                          </a:solidFill>
                          <a:latin typeface="Raleway Medium" panose="020B0604020202020204" charset="0"/>
                        </a:rPr>
                        <a:t>Dr.</a:t>
                      </a:r>
                      <a:r>
                        <a:rPr lang="en-US" sz="1800" b="1" baseline="0" dirty="0" smtClean="0">
                          <a:solidFill>
                            <a:srgbClr val="FF0000"/>
                          </a:solidFill>
                          <a:latin typeface="Raleway Medium" panose="020B0604020202020204" charset="0"/>
                        </a:rPr>
                        <a:t> </a:t>
                      </a:r>
                      <a:r>
                        <a:rPr lang="en-US" sz="1800" b="1" baseline="0" dirty="0" err="1" smtClean="0">
                          <a:solidFill>
                            <a:srgbClr val="FF0000"/>
                          </a:solidFill>
                          <a:latin typeface="Raleway Medium" panose="020B0604020202020204" charset="0"/>
                        </a:rPr>
                        <a:t>Maryam</a:t>
                      </a:r>
                      <a:r>
                        <a:rPr lang="en-US" sz="1800" b="1" dirty="0" smtClean="0">
                          <a:solidFill>
                            <a:schemeClr val="tx2">
                              <a:lumMod val="75000"/>
                            </a:schemeClr>
                          </a:solidFill>
                          <a:latin typeface="Raleway Medium" panose="020B0604020202020204" charset="0"/>
                        </a:rPr>
                        <a:t>)</a:t>
                      </a:r>
                      <a:endParaRPr lang="en-US" sz="1800" b="1" dirty="0">
                        <a:solidFill>
                          <a:schemeClr val="tx2">
                            <a:lumMod val="75000"/>
                          </a:schemeClr>
                        </a:solidFill>
                        <a:latin typeface="Raleway Medium" panose="020B0604020202020204" charset="0"/>
                      </a:endParaRPr>
                    </a:p>
                  </a:txBody>
                  <a:tcPr/>
                </a:tc>
                <a:tc>
                  <a:txBody>
                    <a:bodyPr/>
                    <a:lstStyle/>
                    <a:p>
                      <a:r>
                        <a:rPr lang="en-US" sz="1800" b="1" dirty="0" smtClean="0">
                          <a:solidFill>
                            <a:schemeClr val="tx2">
                              <a:lumMod val="75000"/>
                            </a:schemeClr>
                          </a:solidFill>
                          <a:latin typeface="Raleway Medium" panose="020B0604020202020204" charset="0"/>
                        </a:rPr>
                        <a:t>20%</a:t>
                      </a:r>
                      <a:endParaRPr lang="en-US" sz="1800" b="1" dirty="0">
                        <a:solidFill>
                          <a:schemeClr val="tx2">
                            <a:lumMod val="75000"/>
                          </a:schemeClr>
                        </a:solidFill>
                        <a:latin typeface="Raleway Medium" panose="020B0604020202020204" charset="0"/>
                      </a:endParaRPr>
                    </a:p>
                  </a:txBody>
                  <a:tcPr/>
                </a:tc>
                <a:extLst>
                  <a:ext uri="{0D108BD9-81ED-4DB2-BD59-A6C34878D82A}">
                    <a16:rowId xmlns="" xmlns:a16="http://schemas.microsoft.com/office/drawing/2014/main" val="10002"/>
                  </a:ext>
                </a:extLst>
              </a:tr>
              <a:tr h="370840">
                <a:tc>
                  <a:txBody>
                    <a:bodyPr/>
                    <a:lstStyle/>
                    <a:p>
                      <a:r>
                        <a:rPr lang="en-US" sz="1800" b="1" dirty="0" smtClean="0">
                          <a:solidFill>
                            <a:schemeClr val="tx2">
                              <a:lumMod val="75000"/>
                            </a:schemeClr>
                          </a:solidFill>
                          <a:latin typeface="Raleway Medium" panose="020B0604020202020204" charset="0"/>
                        </a:rPr>
                        <a:t>Quizzes (</a:t>
                      </a:r>
                      <a:r>
                        <a:rPr lang="en-US" sz="1800" b="1" dirty="0" smtClean="0">
                          <a:solidFill>
                            <a:srgbClr val="FF0000"/>
                          </a:solidFill>
                          <a:latin typeface="Raleway Medium" panose="020B0604020202020204" charset="0"/>
                        </a:rPr>
                        <a:t>Dr.</a:t>
                      </a:r>
                      <a:r>
                        <a:rPr lang="en-US" sz="1800" b="1" baseline="0" dirty="0" smtClean="0">
                          <a:solidFill>
                            <a:srgbClr val="FF0000"/>
                          </a:solidFill>
                          <a:latin typeface="Raleway Medium" panose="020B0604020202020204" charset="0"/>
                        </a:rPr>
                        <a:t> </a:t>
                      </a:r>
                      <a:r>
                        <a:rPr lang="en-US" sz="1800" b="1" baseline="0" dirty="0" err="1" smtClean="0">
                          <a:solidFill>
                            <a:srgbClr val="FF0000"/>
                          </a:solidFill>
                          <a:latin typeface="Raleway Medium" panose="020B0604020202020204" charset="0"/>
                        </a:rPr>
                        <a:t>Maryam</a:t>
                      </a:r>
                      <a:r>
                        <a:rPr lang="en-US" sz="1800" b="1" dirty="0" smtClean="0">
                          <a:solidFill>
                            <a:schemeClr val="tx2">
                              <a:lumMod val="75000"/>
                            </a:schemeClr>
                          </a:solidFill>
                          <a:latin typeface="Raleway Medium" panose="020B0604020202020204" charset="0"/>
                        </a:rPr>
                        <a:t>)</a:t>
                      </a:r>
                      <a:endParaRPr lang="en-US" sz="1800" b="1" dirty="0">
                        <a:solidFill>
                          <a:schemeClr val="tx2">
                            <a:lumMod val="75000"/>
                          </a:schemeClr>
                        </a:solidFill>
                        <a:latin typeface="Raleway Medium" panose="020B0604020202020204" charset="0"/>
                      </a:endParaRPr>
                    </a:p>
                  </a:txBody>
                  <a:tcPr/>
                </a:tc>
                <a:tc>
                  <a:txBody>
                    <a:bodyPr/>
                    <a:lstStyle/>
                    <a:p>
                      <a:r>
                        <a:rPr lang="en-US" sz="1800" b="1" dirty="0" smtClean="0">
                          <a:solidFill>
                            <a:schemeClr val="tx2">
                              <a:lumMod val="75000"/>
                            </a:schemeClr>
                          </a:solidFill>
                          <a:latin typeface="Raleway Medium" panose="020B0604020202020204" charset="0"/>
                        </a:rPr>
                        <a:t>10%</a:t>
                      </a:r>
                      <a:endParaRPr lang="en-US" sz="1800" b="1" dirty="0">
                        <a:solidFill>
                          <a:schemeClr val="tx2">
                            <a:lumMod val="75000"/>
                          </a:schemeClr>
                        </a:solidFill>
                        <a:latin typeface="Raleway Medium" panose="020B0604020202020204" charset="0"/>
                      </a:endParaRPr>
                    </a:p>
                  </a:txBody>
                  <a:tcPr/>
                </a:tc>
                <a:extLst>
                  <a:ext uri="{0D108BD9-81ED-4DB2-BD59-A6C34878D82A}">
                    <a16:rowId xmlns="" xmlns:a16="http://schemas.microsoft.com/office/drawing/2014/main" val="10003"/>
                  </a:ext>
                </a:extLst>
              </a:tr>
              <a:tr h="370840">
                <a:tc>
                  <a:txBody>
                    <a:bodyPr/>
                    <a:lstStyle/>
                    <a:p>
                      <a:r>
                        <a:rPr lang="en-US" sz="1800" b="1" dirty="0" smtClean="0">
                          <a:solidFill>
                            <a:schemeClr val="tx2">
                              <a:lumMod val="75000"/>
                            </a:schemeClr>
                          </a:solidFill>
                          <a:latin typeface="Raleway Medium" panose="020B0604020202020204" charset="0"/>
                        </a:rPr>
                        <a:t>Project (</a:t>
                      </a:r>
                      <a:r>
                        <a:rPr lang="en-US" sz="1800" b="1" dirty="0" smtClean="0">
                          <a:solidFill>
                            <a:srgbClr val="FF0000"/>
                          </a:solidFill>
                          <a:latin typeface="Raleway Medium" panose="020B0604020202020204" charset="0"/>
                        </a:rPr>
                        <a:t>Dr.</a:t>
                      </a:r>
                      <a:r>
                        <a:rPr lang="en-US" sz="1800" b="1" baseline="0" dirty="0" smtClean="0">
                          <a:solidFill>
                            <a:srgbClr val="FF0000"/>
                          </a:solidFill>
                          <a:latin typeface="Raleway Medium" panose="020B0604020202020204" charset="0"/>
                        </a:rPr>
                        <a:t> </a:t>
                      </a:r>
                      <a:r>
                        <a:rPr lang="en-US" sz="1800" b="1" baseline="0" dirty="0" err="1" smtClean="0">
                          <a:solidFill>
                            <a:srgbClr val="FF0000"/>
                          </a:solidFill>
                          <a:latin typeface="Raleway Medium" panose="020B0604020202020204" charset="0"/>
                        </a:rPr>
                        <a:t>Maryam</a:t>
                      </a:r>
                      <a:r>
                        <a:rPr lang="en-US" sz="1800" b="1" dirty="0" smtClean="0">
                          <a:solidFill>
                            <a:schemeClr val="tx2">
                              <a:lumMod val="75000"/>
                            </a:schemeClr>
                          </a:solidFill>
                          <a:latin typeface="Raleway Medium" panose="020B0604020202020204" charset="0"/>
                        </a:rPr>
                        <a:t>)</a:t>
                      </a:r>
                      <a:endParaRPr lang="en-US" sz="1800" b="1" dirty="0">
                        <a:solidFill>
                          <a:schemeClr val="tx2">
                            <a:lumMod val="75000"/>
                          </a:schemeClr>
                        </a:solidFill>
                        <a:latin typeface="Raleway Medium" panose="020B0604020202020204" charset="0"/>
                      </a:endParaRPr>
                    </a:p>
                  </a:txBody>
                  <a:tcPr/>
                </a:tc>
                <a:tc>
                  <a:txBody>
                    <a:bodyPr/>
                    <a:lstStyle/>
                    <a:p>
                      <a:r>
                        <a:rPr lang="en-US" sz="1800" b="1" dirty="0" smtClean="0">
                          <a:solidFill>
                            <a:schemeClr val="tx2">
                              <a:lumMod val="75000"/>
                            </a:schemeClr>
                          </a:solidFill>
                          <a:latin typeface="Raleway Medium" panose="020B0604020202020204" charset="0"/>
                        </a:rPr>
                        <a:t>20%</a:t>
                      </a:r>
                      <a:endParaRPr lang="en-US" sz="1800" b="1" dirty="0">
                        <a:solidFill>
                          <a:schemeClr val="tx2">
                            <a:lumMod val="75000"/>
                          </a:schemeClr>
                        </a:solidFill>
                        <a:latin typeface="Raleway Medium" panose="020B0604020202020204" charset="0"/>
                      </a:endParaRPr>
                    </a:p>
                  </a:txBody>
                  <a:tcPr/>
                </a:tc>
                <a:extLst>
                  <a:ext uri="{0D108BD9-81ED-4DB2-BD59-A6C34878D82A}">
                    <a16:rowId xmlns="" xmlns:a16="http://schemas.microsoft.com/office/drawing/2014/main" val="10004"/>
                  </a:ext>
                </a:extLst>
              </a:tr>
              <a:tr h="370840">
                <a:tc>
                  <a:txBody>
                    <a:bodyPr/>
                    <a:lstStyle/>
                    <a:p>
                      <a:r>
                        <a:rPr lang="en-US" sz="1800" b="1" dirty="0" smtClean="0">
                          <a:solidFill>
                            <a:schemeClr val="tx2">
                              <a:lumMod val="75000"/>
                            </a:schemeClr>
                          </a:solidFill>
                          <a:latin typeface="Raleway Medium" panose="020B0604020202020204" charset="0"/>
                        </a:rPr>
                        <a:t>Final (</a:t>
                      </a:r>
                      <a:r>
                        <a:rPr lang="en-US" sz="1800" b="1" dirty="0" smtClean="0">
                          <a:solidFill>
                            <a:srgbClr val="FF0000"/>
                          </a:solidFill>
                          <a:latin typeface="Raleway Medium" panose="020B0604020202020204" charset="0"/>
                        </a:rPr>
                        <a:t>Dr.</a:t>
                      </a:r>
                      <a:r>
                        <a:rPr lang="en-US" sz="1800" b="1" baseline="0" dirty="0" smtClean="0">
                          <a:solidFill>
                            <a:srgbClr val="FF0000"/>
                          </a:solidFill>
                          <a:latin typeface="Raleway Medium" panose="020B0604020202020204" charset="0"/>
                        </a:rPr>
                        <a:t> </a:t>
                      </a:r>
                      <a:r>
                        <a:rPr lang="en-US" sz="1800" b="1" baseline="0" dirty="0" err="1" smtClean="0">
                          <a:solidFill>
                            <a:srgbClr val="FF0000"/>
                          </a:solidFill>
                          <a:latin typeface="Raleway Medium" panose="020B0604020202020204" charset="0"/>
                        </a:rPr>
                        <a:t>Maryam</a:t>
                      </a:r>
                      <a:r>
                        <a:rPr lang="en-US" sz="1800" b="1" dirty="0" smtClean="0">
                          <a:solidFill>
                            <a:schemeClr val="tx2">
                              <a:lumMod val="75000"/>
                            </a:schemeClr>
                          </a:solidFill>
                          <a:latin typeface="Raleway Medium" panose="020B0604020202020204" charset="0"/>
                        </a:rPr>
                        <a:t>)</a:t>
                      </a:r>
                      <a:endParaRPr lang="en-US" sz="1800" b="1" dirty="0">
                        <a:solidFill>
                          <a:schemeClr val="tx2">
                            <a:lumMod val="75000"/>
                          </a:schemeClr>
                        </a:solidFill>
                        <a:latin typeface="Raleway Medium" panose="020B0604020202020204" charset="0"/>
                      </a:endParaRPr>
                    </a:p>
                  </a:txBody>
                  <a:tcPr/>
                </a:tc>
                <a:tc>
                  <a:txBody>
                    <a:bodyPr/>
                    <a:lstStyle/>
                    <a:p>
                      <a:r>
                        <a:rPr lang="en-US" sz="1800" b="1" dirty="0" smtClean="0">
                          <a:solidFill>
                            <a:schemeClr val="tx2">
                              <a:lumMod val="75000"/>
                            </a:schemeClr>
                          </a:solidFill>
                          <a:latin typeface="Raleway Medium" panose="020B0604020202020204" charset="0"/>
                        </a:rPr>
                        <a:t>40%</a:t>
                      </a:r>
                      <a:endParaRPr lang="en-US" sz="1800" b="1" dirty="0">
                        <a:solidFill>
                          <a:schemeClr val="tx2">
                            <a:lumMod val="75000"/>
                          </a:schemeClr>
                        </a:solidFill>
                        <a:latin typeface="Raleway Medium" panose="020B0604020202020204" charset="0"/>
                      </a:endParaRPr>
                    </a:p>
                  </a:txBody>
                  <a:tcPr/>
                </a:tc>
                <a:extLst>
                  <a:ext uri="{0D108BD9-81ED-4DB2-BD59-A6C34878D82A}">
                    <a16:rowId xmlns="" xmlns:a16="http://schemas.microsoft.com/office/drawing/2014/main" val="10005"/>
                  </a:ext>
                </a:extLst>
              </a:tr>
              <a:tr h="370840">
                <a:tc>
                  <a:txBody>
                    <a:bodyPr/>
                    <a:lstStyle/>
                    <a:p>
                      <a:r>
                        <a:rPr lang="ar-EG" sz="1800" b="1" dirty="0" smtClean="0">
                          <a:solidFill>
                            <a:schemeClr val="tx2">
                              <a:lumMod val="75000"/>
                            </a:schemeClr>
                          </a:solidFill>
                          <a:latin typeface="Raleway Medium" panose="020B0604020202020204" charset="0"/>
                        </a:rPr>
                        <a:t>الأخلاق</a:t>
                      </a:r>
                      <a:r>
                        <a:rPr lang="ar-EG" sz="1800" b="1" baseline="0" dirty="0" smtClean="0">
                          <a:solidFill>
                            <a:schemeClr val="tx2">
                              <a:lumMod val="75000"/>
                            </a:schemeClr>
                          </a:solidFill>
                          <a:latin typeface="Raleway Medium" panose="020B0604020202020204" charset="0"/>
                        </a:rPr>
                        <a:t> </a:t>
                      </a:r>
                      <a:endParaRPr lang="en-US" sz="1800" b="1" dirty="0">
                        <a:solidFill>
                          <a:schemeClr val="tx2">
                            <a:lumMod val="75000"/>
                          </a:schemeClr>
                        </a:solidFill>
                        <a:latin typeface="Raleway Medium" panose="020B0604020202020204" charset="0"/>
                      </a:endParaRPr>
                    </a:p>
                  </a:txBody>
                  <a:tcPr/>
                </a:tc>
                <a:tc>
                  <a:txBody>
                    <a:bodyPr/>
                    <a:lstStyle/>
                    <a:p>
                      <a:r>
                        <a:rPr lang="en-US" sz="1800" b="1" dirty="0" smtClean="0">
                          <a:solidFill>
                            <a:schemeClr val="tx2">
                              <a:lumMod val="75000"/>
                            </a:schemeClr>
                          </a:solidFill>
                          <a:latin typeface="Raleway Medium" panose="020B0604020202020204" charset="0"/>
                        </a:rPr>
                        <a:t>-100 </a:t>
                      </a:r>
                      <a:endParaRPr lang="en-US" sz="1800" b="1" dirty="0">
                        <a:solidFill>
                          <a:schemeClr val="tx2">
                            <a:lumMod val="75000"/>
                          </a:schemeClr>
                        </a:solidFill>
                        <a:latin typeface="Raleway Medium" panose="020B0604020202020204" charset="0"/>
                      </a:endParaRPr>
                    </a:p>
                  </a:txBody>
                  <a:tcPr/>
                </a:tc>
              </a:tr>
              <a:tr h="370840">
                <a:tc>
                  <a:txBody>
                    <a:bodyPr/>
                    <a:lstStyle/>
                    <a:p>
                      <a:r>
                        <a:rPr lang="ar-EG" sz="1800" b="1" dirty="0" smtClean="0">
                          <a:solidFill>
                            <a:schemeClr val="tx2">
                              <a:lumMod val="75000"/>
                            </a:schemeClr>
                          </a:solidFill>
                          <a:latin typeface="Raleway Medium" panose="020B0604020202020204" charset="0"/>
                        </a:rPr>
                        <a:t>الغياب</a:t>
                      </a:r>
                      <a:r>
                        <a:rPr lang="ar-EG" sz="1800" b="1" baseline="0" dirty="0" smtClean="0">
                          <a:solidFill>
                            <a:schemeClr val="tx2">
                              <a:lumMod val="75000"/>
                            </a:schemeClr>
                          </a:solidFill>
                          <a:latin typeface="Raleway Medium" panose="020B0604020202020204" charset="0"/>
                        </a:rPr>
                        <a:t> </a:t>
                      </a:r>
                      <a:endParaRPr lang="en-US" sz="1800" b="1" dirty="0">
                        <a:solidFill>
                          <a:schemeClr val="tx2">
                            <a:lumMod val="75000"/>
                          </a:schemeClr>
                        </a:solidFill>
                        <a:latin typeface="Raleway Medium" panose="020B0604020202020204" charset="0"/>
                      </a:endParaRPr>
                    </a:p>
                  </a:txBody>
                  <a:tcPr/>
                </a:tc>
                <a:tc>
                  <a:txBody>
                    <a:bodyPr/>
                    <a:lstStyle/>
                    <a:p>
                      <a:r>
                        <a:rPr lang="ar-EG" sz="1800" b="1" dirty="0" smtClean="0">
                          <a:solidFill>
                            <a:schemeClr val="tx2">
                              <a:lumMod val="75000"/>
                            </a:schemeClr>
                          </a:solidFill>
                          <a:latin typeface="Raleway Medium" panose="020B0604020202020204" charset="0"/>
                        </a:rPr>
                        <a:t>5</a:t>
                      </a:r>
                      <a:endParaRPr lang="en-US" sz="1800" b="1" dirty="0">
                        <a:solidFill>
                          <a:schemeClr val="tx2">
                            <a:lumMod val="75000"/>
                          </a:schemeClr>
                        </a:solidFill>
                        <a:latin typeface="Raleway Medium" panose="020B0604020202020204" charset="0"/>
                      </a:endParaRPr>
                    </a:p>
                  </a:txBody>
                  <a:tcPr/>
                </a:tc>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305"/>
        <p:cNvGrpSpPr/>
        <p:nvPr/>
      </p:nvGrpSpPr>
      <p:grpSpPr>
        <a:xfrm>
          <a:off x="0" y="0"/>
          <a:ext cx="0" cy="0"/>
          <a:chOff x="0" y="0"/>
          <a:chExt cx="0" cy="0"/>
        </a:xfrm>
      </p:grpSpPr>
      <p:sp>
        <p:nvSpPr>
          <p:cNvPr id="306" name="Google Shape;306;p42"/>
          <p:cNvSpPr txBox="1">
            <a:spLocks noGrp="1"/>
          </p:cNvSpPr>
          <p:nvPr>
            <p:ph type="title"/>
          </p:nvPr>
        </p:nvSpPr>
        <p:spPr>
          <a:xfrm>
            <a:off x="713225" y="2785050"/>
            <a:ext cx="4373260" cy="9165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4400" dirty="0" smtClean="0"/>
              <a:t>Biomedical Signals</a:t>
            </a:r>
            <a:endParaRPr sz="4400" dirty="0"/>
          </a:p>
        </p:txBody>
      </p:sp>
      <p:sp>
        <p:nvSpPr>
          <p:cNvPr id="307" name="Google Shape;307;p42"/>
          <p:cNvSpPr txBox="1">
            <a:spLocks noGrp="1"/>
          </p:cNvSpPr>
          <p:nvPr>
            <p:ph type="title" idx="2"/>
          </p:nvPr>
        </p:nvSpPr>
        <p:spPr>
          <a:xfrm>
            <a:off x="713225" y="1307150"/>
            <a:ext cx="1122900" cy="11229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smtClean="0"/>
              <a:t>02</a:t>
            </a:r>
            <a:endParaRPr dirty="0"/>
          </a:p>
        </p:txBody>
      </p:sp>
      <p:pic>
        <p:nvPicPr>
          <p:cNvPr id="310" name="Google Shape;310;p42"/>
          <p:cNvPicPr preferRelativeResize="0"/>
          <p:nvPr/>
        </p:nvPicPr>
        <p:blipFill rotWithShape="1">
          <a:blip r:embed="rId3">
            <a:alphaModFix/>
          </a:blip>
          <a:srcRect t="39" b="29"/>
          <a:stretch/>
        </p:blipFill>
        <p:spPr>
          <a:xfrm>
            <a:off x="5324953" y="581757"/>
            <a:ext cx="972850" cy="2942098"/>
          </a:xfrm>
          <a:prstGeom prst="rect">
            <a:avLst/>
          </a:prstGeom>
          <a:noFill/>
          <a:ln>
            <a:noFill/>
          </a:ln>
        </p:spPr>
      </p:pic>
      <p:pic>
        <p:nvPicPr>
          <p:cNvPr id="7" name="Google Shape;261;p38"/>
          <p:cNvPicPr preferRelativeResize="0"/>
          <p:nvPr/>
        </p:nvPicPr>
        <p:blipFill rotWithShape="1">
          <a:blip r:embed="rId4">
            <a:alphaModFix/>
          </a:blip>
          <a:srcRect t="39" b="39"/>
          <a:stretch/>
        </p:blipFill>
        <p:spPr>
          <a:xfrm>
            <a:off x="6229096" y="2684928"/>
            <a:ext cx="1935357" cy="2033243"/>
          </a:xfrm>
          <a:prstGeom prst="rect">
            <a:avLst/>
          </a:prstGeom>
          <a:noFill/>
          <a:ln>
            <a:noFill/>
          </a:ln>
        </p:spPr>
      </p:pic>
      <p:pic>
        <p:nvPicPr>
          <p:cNvPr id="8" name="Google Shape;618;p66"/>
          <p:cNvPicPr preferRelativeResize="0"/>
          <p:nvPr/>
        </p:nvPicPr>
        <p:blipFill rotWithShape="1">
          <a:blip r:embed="rId5">
            <a:alphaModFix/>
          </a:blip>
          <a:srcRect t="69" b="79"/>
          <a:stretch/>
        </p:blipFill>
        <p:spPr>
          <a:xfrm>
            <a:off x="6536271" y="386900"/>
            <a:ext cx="2045900" cy="2398150"/>
          </a:xfrm>
          <a:prstGeom prst="rect">
            <a:avLst/>
          </a:prstGeom>
          <a:noFill/>
          <a:ln>
            <a:noFill/>
          </a:ln>
        </p:spPr>
      </p:pic>
    </p:spTree>
    <p:extLst>
      <p:ext uri="{BB962C8B-B14F-4D97-AF65-F5344CB8AC3E}">
        <p14:creationId xmlns="" xmlns:p14="http://schemas.microsoft.com/office/powerpoint/2010/main" val="220442273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13224" y="2785050"/>
            <a:ext cx="6383612" cy="916500"/>
          </a:xfrm>
        </p:spPr>
        <p:txBody>
          <a:bodyPr/>
          <a:lstStyle/>
          <a:p>
            <a:r>
              <a:rPr lang="en-US" dirty="0" smtClean="0"/>
              <a:t>Muscle Signals</a:t>
            </a:r>
            <a:endParaRPr lang="en-US" dirty="0"/>
          </a:p>
        </p:txBody>
      </p:sp>
      <p:sp>
        <p:nvSpPr>
          <p:cNvPr id="3" name="Title 2"/>
          <p:cNvSpPr>
            <a:spLocks noGrp="1"/>
          </p:cNvSpPr>
          <p:nvPr>
            <p:ph type="title" idx="2"/>
          </p:nvPr>
        </p:nvSpPr>
        <p:spPr>
          <a:xfrm>
            <a:off x="713224" y="1307150"/>
            <a:ext cx="1675133" cy="1122900"/>
          </a:xfrm>
        </p:spPr>
        <p:txBody>
          <a:bodyPr/>
          <a:lstStyle/>
          <a:p>
            <a:r>
              <a:rPr lang="en-US" dirty="0" smtClean="0"/>
              <a:t>EMG</a:t>
            </a:r>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0000" y="320333"/>
            <a:ext cx="7704000" cy="572700"/>
          </a:xfrm>
        </p:spPr>
        <p:txBody>
          <a:bodyPr/>
          <a:lstStyle/>
          <a:p>
            <a:r>
              <a:rPr lang="en-US" dirty="0" smtClean="0"/>
              <a:t>Bio-Electric Signals  </a:t>
            </a:r>
            <a:endParaRPr lang="en-US" dirty="0"/>
          </a:p>
        </p:txBody>
      </p:sp>
      <p:sp>
        <p:nvSpPr>
          <p:cNvPr id="3" name="Text Placeholder 2"/>
          <p:cNvSpPr>
            <a:spLocks noGrp="1"/>
          </p:cNvSpPr>
          <p:nvPr>
            <p:ph type="body" idx="1"/>
          </p:nvPr>
        </p:nvSpPr>
        <p:spPr>
          <a:xfrm>
            <a:off x="720000" y="1007931"/>
            <a:ext cx="7704000" cy="405900"/>
          </a:xfrm>
        </p:spPr>
        <p:txBody>
          <a:bodyPr/>
          <a:lstStyle/>
          <a:p>
            <a:r>
              <a:rPr lang="en-US" sz="1600" dirty="0" smtClean="0"/>
              <a:t>Electrical potential generated by the cell membrane potential called action potential and mainly generated by nerve and cell muscle.</a:t>
            </a:r>
          </a:p>
          <a:p>
            <a:pPr marL="152400" indent="0">
              <a:buNone/>
            </a:pPr>
            <a:r>
              <a:rPr lang="en-US" sz="1600" dirty="0" smtClean="0"/>
              <a:t> </a:t>
            </a:r>
          </a:p>
          <a:p>
            <a:r>
              <a:rPr lang="en-US" sz="1600" dirty="0" smtClean="0"/>
              <a:t>Examples:</a:t>
            </a:r>
          </a:p>
          <a:p>
            <a:pPr marL="609600" lvl="1" indent="0">
              <a:buNone/>
            </a:pPr>
            <a:r>
              <a:rPr lang="en-US" sz="1600" dirty="0"/>
              <a:t>(1) </a:t>
            </a:r>
            <a:r>
              <a:rPr lang="en-US" sz="1600" dirty="0">
                <a:solidFill>
                  <a:schemeClr val="tx1"/>
                </a:solidFill>
              </a:rPr>
              <a:t>Electroencephalography (EEG): brain signal </a:t>
            </a:r>
            <a:r>
              <a:rPr lang="en-US" sz="1600" dirty="0" smtClean="0">
                <a:solidFill>
                  <a:schemeClr val="tx1"/>
                </a:solidFill>
              </a:rPr>
              <a:t>recordings. </a:t>
            </a:r>
            <a:endParaRPr lang="en-US" sz="1600" dirty="0">
              <a:solidFill>
                <a:schemeClr val="tx1"/>
              </a:solidFill>
            </a:endParaRPr>
          </a:p>
          <a:p>
            <a:pPr marL="609600" lvl="1" indent="0">
              <a:buNone/>
            </a:pPr>
            <a:r>
              <a:rPr lang="en-US" sz="1600" dirty="0"/>
              <a:t>(2) </a:t>
            </a:r>
            <a:r>
              <a:rPr lang="en-US" sz="1600" u="sng" dirty="0">
                <a:solidFill>
                  <a:schemeClr val="accent3">
                    <a:lumMod val="75000"/>
                  </a:schemeClr>
                </a:solidFill>
              </a:rPr>
              <a:t>Electromyography (EMG): </a:t>
            </a:r>
            <a:r>
              <a:rPr lang="en-US" sz="1600" u="sng" dirty="0">
                <a:solidFill>
                  <a:srgbClr val="C00000"/>
                </a:solidFill>
              </a:rPr>
              <a:t>muscle signal </a:t>
            </a:r>
            <a:r>
              <a:rPr lang="en-US" sz="1600" u="sng" dirty="0" smtClean="0">
                <a:solidFill>
                  <a:srgbClr val="C00000"/>
                </a:solidFill>
              </a:rPr>
              <a:t>recordings. </a:t>
            </a:r>
            <a:endParaRPr lang="en-US" sz="1600" u="sng" dirty="0">
              <a:solidFill>
                <a:srgbClr val="C00000"/>
              </a:solidFill>
            </a:endParaRPr>
          </a:p>
          <a:p>
            <a:pPr marL="609600" lvl="1" indent="0">
              <a:buNone/>
            </a:pPr>
            <a:r>
              <a:rPr lang="en-US" sz="1600" dirty="0"/>
              <a:t>(3) </a:t>
            </a:r>
            <a:r>
              <a:rPr lang="en-US" sz="1600" dirty="0">
                <a:solidFill>
                  <a:schemeClr val="tx1"/>
                </a:solidFill>
              </a:rPr>
              <a:t>Electrocardiography (ECG): heart signal </a:t>
            </a:r>
            <a:r>
              <a:rPr lang="en-US" sz="1600" dirty="0" smtClean="0">
                <a:solidFill>
                  <a:schemeClr val="tx1"/>
                </a:solidFill>
              </a:rPr>
              <a:t>recordings. </a:t>
            </a:r>
          </a:p>
          <a:p>
            <a:pPr marL="609600" lvl="1" indent="0">
              <a:buNone/>
            </a:pPr>
            <a:r>
              <a:rPr lang="en-US" sz="1600" dirty="0">
                <a:solidFill>
                  <a:schemeClr val="tx1"/>
                </a:solidFill>
              </a:rPr>
              <a:t>(4) Electrooculography (EOG): eye signal </a:t>
            </a:r>
            <a:r>
              <a:rPr lang="en-US" sz="1600" dirty="0" smtClean="0">
                <a:solidFill>
                  <a:schemeClr val="tx1"/>
                </a:solidFill>
              </a:rPr>
              <a:t>recordings.  </a:t>
            </a:r>
          </a:p>
          <a:p>
            <a:endParaRPr lang="en-US" dirty="0"/>
          </a:p>
        </p:txBody>
      </p:sp>
    </p:spTree>
    <p:extLst>
      <p:ext uri="{BB962C8B-B14F-4D97-AF65-F5344CB8AC3E}">
        <p14:creationId xmlns="" xmlns:p14="http://schemas.microsoft.com/office/powerpoint/2010/main" val="58953595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408669" y="848116"/>
            <a:ext cx="4036009" cy="3874356"/>
          </a:xfrm>
          <a:prstGeom prst="rect">
            <a:avLst/>
          </a:prstGeom>
        </p:spPr>
      </p:pic>
      <p:sp>
        <p:nvSpPr>
          <p:cNvPr id="5" name="Text Placeholder 2"/>
          <p:cNvSpPr>
            <a:spLocks noGrp="1"/>
          </p:cNvSpPr>
          <p:nvPr>
            <p:ph type="body" idx="1"/>
          </p:nvPr>
        </p:nvSpPr>
        <p:spPr>
          <a:xfrm>
            <a:off x="4687748" y="1319515"/>
            <a:ext cx="4085862" cy="405900"/>
          </a:xfrm>
        </p:spPr>
        <p:txBody>
          <a:bodyPr/>
          <a:lstStyle/>
          <a:p>
            <a:pPr algn="just"/>
            <a:r>
              <a:rPr lang="en-US" sz="1400" dirty="0" smtClean="0"/>
              <a:t>Brain control muscles by sending electrical signals along motor neurons , which originates in the ventral horn of spinal cord</a:t>
            </a:r>
          </a:p>
          <a:p>
            <a:pPr algn="just"/>
            <a:r>
              <a:rPr lang="en-US" sz="1400" dirty="0" smtClean="0"/>
              <a:t>Each motor neuron innovates a group of muscle fibers together this called a motor unit</a:t>
            </a:r>
          </a:p>
          <a:p>
            <a:pPr algn="just"/>
            <a:r>
              <a:rPr lang="en-US" sz="1400" dirty="0" smtClean="0"/>
              <a:t>Motor unit single smaller controllable muscular unit we can measure </a:t>
            </a:r>
          </a:p>
          <a:p>
            <a:pPr algn="just"/>
            <a:r>
              <a:rPr lang="en-US" sz="1400" dirty="0" smtClean="0"/>
              <a:t>Muscles are composed of many motor units and each motor units contracts when it receives signals from brain and can be presented as motor unit firing instance. </a:t>
            </a:r>
          </a:p>
          <a:p>
            <a:pPr marL="152400" indent="0" algn="just">
              <a:buNone/>
            </a:pPr>
            <a:endParaRPr lang="en-US" dirty="0"/>
          </a:p>
        </p:txBody>
      </p:sp>
      <p:sp>
        <p:nvSpPr>
          <p:cNvPr id="6" name="Title 1"/>
          <p:cNvSpPr>
            <a:spLocks noGrp="1"/>
          </p:cNvSpPr>
          <p:nvPr>
            <p:ph type="title"/>
          </p:nvPr>
        </p:nvSpPr>
        <p:spPr>
          <a:xfrm>
            <a:off x="0" y="275416"/>
            <a:ext cx="7704000" cy="572700"/>
          </a:xfrm>
        </p:spPr>
        <p:txBody>
          <a:bodyPr/>
          <a:lstStyle/>
          <a:p>
            <a:r>
              <a:rPr lang="en-US" dirty="0" smtClean="0"/>
              <a:t>Introduction</a:t>
            </a:r>
            <a:endParaRPr lang="en-US" dirty="0"/>
          </a:p>
        </p:txBody>
      </p:sp>
    </p:spTree>
    <p:extLst>
      <p:ext uri="{BB962C8B-B14F-4D97-AF65-F5344CB8AC3E}">
        <p14:creationId xmlns="" xmlns:p14="http://schemas.microsoft.com/office/powerpoint/2010/main" val="4898867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408669" y="848116"/>
            <a:ext cx="4036009" cy="3874356"/>
          </a:xfrm>
          <a:prstGeom prst="rect">
            <a:avLst/>
          </a:prstGeom>
        </p:spPr>
      </p:pic>
      <p:sp>
        <p:nvSpPr>
          <p:cNvPr id="5" name="Text Placeholder 2"/>
          <p:cNvSpPr>
            <a:spLocks noGrp="1"/>
          </p:cNvSpPr>
          <p:nvPr>
            <p:ph type="body" idx="1"/>
          </p:nvPr>
        </p:nvSpPr>
        <p:spPr>
          <a:xfrm>
            <a:off x="4853347" y="1296366"/>
            <a:ext cx="3724678" cy="405900"/>
          </a:xfrm>
        </p:spPr>
        <p:txBody>
          <a:bodyPr/>
          <a:lstStyle/>
          <a:p>
            <a:pPr algn="just"/>
            <a:r>
              <a:rPr lang="en-US" sz="1400" dirty="0" smtClean="0"/>
              <a:t>Different motor units can fire varying firing rates. </a:t>
            </a:r>
          </a:p>
          <a:p>
            <a:pPr algn="just"/>
            <a:r>
              <a:rPr lang="en-US" sz="1400" dirty="0" smtClean="0"/>
              <a:t>The contraction of a single motor unit creates an electrical signature called a motor unit action potential also known as MU.</a:t>
            </a:r>
          </a:p>
          <a:p>
            <a:pPr algn="just"/>
            <a:r>
              <a:rPr lang="en-US" sz="1400" dirty="0" smtClean="0"/>
              <a:t>Each MU provides varying amplitudes of force.</a:t>
            </a:r>
          </a:p>
          <a:p>
            <a:pPr algn="just"/>
            <a:r>
              <a:rPr lang="en-US" sz="1400" dirty="0" smtClean="0"/>
              <a:t>Sound of muscle </a:t>
            </a:r>
          </a:p>
          <a:p>
            <a:pPr algn="just"/>
            <a:r>
              <a:rPr lang="en-US" sz="1400" dirty="0" smtClean="0"/>
              <a:t>Any part of body that has a muscle such as face, tong, neck, Lower back, arms, legs</a:t>
            </a:r>
          </a:p>
          <a:p>
            <a:endParaRPr lang="en-US" dirty="0"/>
          </a:p>
        </p:txBody>
      </p:sp>
      <p:sp>
        <p:nvSpPr>
          <p:cNvPr id="6" name="Title 1"/>
          <p:cNvSpPr>
            <a:spLocks noGrp="1"/>
          </p:cNvSpPr>
          <p:nvPr>
            <p:ph type="title"/>
          </p:nvPr>
        </p:nvSpPr>
        <p:spPr>
          <a:xfrm>
            <a:off x="0" y="275416"/>
            <a:ext cx="7704000" cy="572700"/>
          </a:xfrm>
        </p:spPr>
        <p:txBody>
          <a:bodyPr/>
          <a:lstStyle/>
          <a:p>
            <a:r>
              <a:rPr lang="en-US" dirty="0" smtClean="0"/>
              <a:t>Introduction</a:t>
            </a:r>
            <a:endParaRPr lang="en-US" dirty="0"/>
          </a:p>
        </p:txBody>
      </p:sp>
    </p:spTree>
    <p:extLst>
      <p:ext uri="{BB962C8B-B14F-4D97-AF65-F5344CB8AC3E}">
        <p14:creationId xmlns="" xmlns:p14="http://schemas.microsoft.com/office/powerpoint/2010/main" val="20472595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1433030" y="1126904"/>
            <a:ext cx="4981575" cy="3514725"/>
          </a:xfrm>
          <a:prstGeom prst="rect">
            <a:avLst/>
          </a:prstGeom>
        </p:spPr>
      </p:pic>
      <p:sp>
        <p:nvSpPr>
          <p:cNvPr id="5" name="Title 1"/>
          <p:cNvSpPr>
            <a:spLocks noGrp="1"/>
          </p:cNvSpPr>
          <p:nvPr>
            <p:ph type="title"/>
          </p:nvPr>
        </p:nvSpPr>
        <p:spPr>
          <a:xfrm>
            <a:off x="544010" y="368013"/>
            <a:ext cx="7704000" cy="572700"/>
          </a:xfrm>
        </p:spPr>
        <p:txBody>
          <a:bodyPr/>
          <a:lstStyle/>
          <a:p>
            <a:r>
              <a:rPr lang="en-US" dirty="0" smtClean="0"/>
              <a:t>Introduction</a:t>
            </a:r>
            <a:endParaRPr lang="en-US" dirty="0"/>
          </a:p>
        </p:txBody>
      </p:sp>
    </p:spTree>
    <p:extLst>
      <p:ext uri="{BB962C8B-B14F-4D97-AF65-F5344CB8AC3E}">
        <p14:creationId xmlns="" xmlns:p14="http://schemas.microsoft.com/office/powerpoint/2010/main" val="8081077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EMG</a:t>
            </a:r>
            <a:endParaRPr lang="en-US" dirty="0"/>
          </a:p>
        </p:txBody>
      </p:sp>
      <p:sp>
        <p:nvSpPr>
          <p:cNvPr id="3" name="Text Placeholder 2"/>
          <p:cNvSpPr>
            <a:spLocks noGrp="1"/>
          </p:cNvSpPr>
          <p:nvPr>
            <p:ph type="body" idx="1"/>
          </p:nvPr>
        </p:nvSpPr>
        <p:spPr/>
        <p:txBody>
          <a:bodyPr/>
          <a:lstStyle/>
          <a:p>
            <a:r>
              <a:rPr lang="en-US" sz="1600" b="1" dirty="0" smtClean="0">
                <a:solidFill>
                  <a:srgbClr val="C00000"/>
                </a:solidFill>
              </a:rPr>
              <a:t>Electromyography (EMG): </a:t>
            </a:r>
            <a:r>
              <a:rPr lang="en-US" sz="1600" dirty="0" smtClean="0"/>
              <a:t>is a technique for evaluating and recording the electrical activity produced by skeletal muscles. </a:t>
            </a:r>
          </a:p>
          <a:p>
            <a:pPr marL="152400" indent="0">
              <a:buNone/>
            </a:pPr>
            <a:endParaRPr lang="en-US" sz="1600" dirty="0" smtClean="0"/>
          </a:p>
          <a:p>
            <a:r>
              <a:rPr lang="en-US" sz="1600" dirty="0" smtClean="0"/>
              <a:t>EMG is performed using an instrument called an </a:t>
            </a:r>
            <a:r>
              <a:rPr lang="en-US" sz="1600" u="sng" dirty="0" smtClean="0">
                <a:solidFill>
                  <a:srgbClr val="C00000"/>
                </a:solidFill>
              </a:rPr>
              <a:t>electromyography</a:t>
            </a:r>
            <a:r>
              <a:rPr lang="en-US" sz="1600" dirty="0" smtClean="0"/>
              <a:t> to produced a record called an </a:t>
            </a:r>
            <a:r>
              <a:rPr lang="en-US" sz="1600" u="sng" dirty="0" err="1" smtClean="0">
                <a:solidFill>
                  <a:srgbClr val="C00000"/>
                </a:solidFill>
              </a:rPr>
              <a:t>electromyogram</a:t>
            </a:r>
            <a:r>
              <a:rPr lang="en-US" sz="1600" u="sng" dirty="0" smtClean="0">
                <a:solidFill>
                  <a:srgbClr val="C00000"/>
                </a:solidFill>
              </a:rPr>
              <a:t>.</a:t>
            </a:r>
          </a:p>
          <a:p>
            <a:endParaRPr lang="en-US" sz="1600" dirty="0" smtClean="0"/>
          </a:p>
          <a:p>
            <a:r>
              <a:rPr lang="en-US" sz="1600" dirty="0" smtClean="0"/>
              <a:t>A resting muscle does not show recordable electrical potential but with increase force of contraction, amplitude of potential increases.</a:t>
            </a:r>
          </a:p>
          <a:p>
            <a:pPr marL="152400" indent="0">
              <a:buNone/>
            </a:pPr>
            <a:r>
              <a:rPr lang="en-US" sz="1600" dirty="0" smtClean="0"/>
              <a:t> </a:t>
            </a:r>
          </a:p>
          <a:p>
            <a:r>
              <a:rPr lang="en-US" sz="1600" dirty="0" err="1" smtClean="0"/>
              <a:t>Electromyograph</a:t>
            </a:r>
            <a:r>
              <a:rPr lang="en-US" sz="1600" dirty="0" smtClean="0"/>
              <a:t> detects electrical potential generated by muscle cells when these cells are electrically or neurologically activated. </a:t>
            </a:r>
          </a:p>
          <a:p>
            <a:pPr marL="152400" indent="0">
              <a:buNone/>
            </a:pPr>
            <a:endParaRPr lang="en-US" dirty="0" smtClean="0"/>
          </a:p>
          <a:p>
            <a:pPr marL="152400" indent="0">
              <a:buNone/>
            </a:pPr>
            <a:endParaRPr lang="en-US" dirty="0"/>
          </a:p>
        </p:txBody>
      </p:sp>
    </p:spTree>
    <p:extLst>
      <p:ext uri="{BB962C8B-B14F-4D97-AF65-F5344CB8AC3E}">
        <p14:creationId xmlns="" xmlns:p14="http://schemas.microsoft.com/office/powerpoint/2010/main" val="18924284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EMG</a:t>
            </a:r>
            <a:endParaRPr lang="en-US" dirty="0"/>
          </a:p>
        </p:txBody>
      </p:sp>
      <p:sp>
        <p:nvSpPr>
          <p:cNvPr id="3" name="Text Placeholder 2"/>
          <p:cNvSpPr>
            <a:spLocks noGrp="1"/>
          </p:cNvSpPr>
          <p:nvPr>
            <p:ph type="body" idx="1"/>
          </p:nvPr>
        </p:nvSpPr>
        <p:spPr>
          <a:xfrm>
            <a:off x="720000" y="1017725"/>
            <a:ext cx="7704000" cy="405900"/>
          </a:xfrm>
        </p:spPr>
        <p:txBody>
          <a:bodyPr/>
          <a:lstStyle/>
          <a:p>
            <a:pPr algn="just"/>
            <a:r>
              <a:rPr lang="it-IT" sz="1600" b="1" u="sng" dirty="0">
                <a:solidFill>
                  <a:srgbClr val="C00000"/>
                </a:solidFill>
              </a:rPr>
              <a:t>Device: </a:t>
            </a:r>
            <a:r>
              <a:rPr lang="it-IT" sz="1600" dirty="0">
                <a:solidFill>
                  <a:schemeClr val="tx1"/>
                </a:solidFill>
              </a:rPr>
              <a:t>via Cathode Ray Oscilloscope (CRO). </a:t>
            </a:r>
            <a:endParaRPr lang="it-IT" sz="1600" dirty="0" smtClean="0">
              <a:solidFill>
                <a:schemeClr val="tx1"/>
              </a:solidFill>
            </a:endParaRPr>
          </a:p>
          <a:p>
            <a:pPr marL="152400" indent="0" algn="just">
              <a:buNone/>
            </a:pPr>
            <a:endParaRPr lang="en-US" sz="1600" dirty="0" smtClean="0">
              <a:solidFill>
                <a:schemeClr val="tx1"/>
              </a:solidFill>
            </a:endParaRPr>
          </a:p>
          <a:p>
            <a:pPr algn="just"/>
            <a:r>
              <a:rPr lang="en-US" sz="1600" b="1" u="sng" dirty="0" smtClean="0">
                <a:solidFill>
                  <a:srgbClr val="C00000"/>
                </a:solidFill>
              </a:rPr>
              <a:t>Electrodes:</a:t>
            </a:r>
          </a:p>
          <a:p>
            <a:pPr lvl="1" algn="just"/>
            <a:r>
              <a:rPr lang="en-US" sz="1600" dirty="0" smtClean="0">
                <a:solidFill>
                  <a:schemeClr val="accent3"/>
                </a:solidFill>
              </a:rPr>
              <a:t>Surface electrodes:  </a:t>
            </a:r>
            <a:r>
              <a:rPr lang="en-US" sz="1600" dirty="0" smtClean="0">
                <a:solidFill>
                  <a:schemeClr val="tx1"/>
                </a:solidFill>
              </a:rPr>
              <a:t>SEMG: Metal disc ( skin) and superficial muscles, Nerve </a:t>
            </a:r>
            <a:r>
              <a:rPr lang="en-US" sz="1600" dirty="0">
                <a:solidFill>
                  <a:schemeClr val="tx1"/>
                </a:solidFill>
              </a:rPr>
              <a:t>conduction test </a:t>
            </a:r>
            <a:r>
              <a:rPr lang="en-US" sz="1600" dirty="0" smtClean="0">
                <a:solidFill>
                  <a:schemeClr val="tx1"/>
                </a:solidFill>
              </a:rPr>
              <a:t>, surface electrode. </a:t>
            </a:r>
          </a:p>
          <a:p>
            <a:pPr lvl="1" algn="just"/>
            <a:r>
              <a:rPr lang="en-US" sz="1600" dirty="0" smtClean="0">
                <a:solidFill>
                  <a:schemeClr val="accent3"/>
                </a:solidFill>
              </a:rPr>
              <a:t>Needle electrodes:  </a:t>
            </a:r>
            <a:r>
              <a:rPr lang="en-US" sz="1600" dirty="0" smtClean="0">
                <a:solidFill>
                  <a:schemeClr val="tx1"/>
                </a:solidFill>
              </a:rPr>
              <a:t>Intramusccular : invasive method </a:t>
            </a:r>
            <a:r>
              <a:rPr lang="en-US" sz="1600" dirty="0">
                <a:solidFill>
                  <a:schemeClr val="tx1"/>
                </a:solidFill>
              </a:rPr>
              <a:t>Hypodermic needle (inside muscle</a:t>
            </a:r>
            <a:r>
              <a:rPr lang="en-US" sz="1600" dirty="0" smtClean="0">
                <a:solidFill>
                  <a:schemeClr val="tx1"/>
                </a:solidFill>
              </a:rPr>
              <a:t>), Needle EMG.</a:t>
            </a:r>
          </a:p>
          <a:p>
            <a:pPr marL="609600" lvl="1" indent="0" algn="just">
              <a:buNone/>
            </a:pPr>
            <a:endParaRPr lang="en-US" sz="1600" dirty="0" smtClean="0">
              <a:solidFill>
                <a:schemeClr val="tx1"/>
              </a:solidFill>
            </a:endParaRPr>
          </a:p>
          <a:p>
            <a:pPr algn="just"/>
            <a:r>
              <a:rPr lang="en-US" sz="1600" dirty="0">
                <a:solidFill>
                  <a:schemeClr val="tx1"/>
                </a:solidFill>
              </a:rPr>
              <a:t>The major difference between </a:t>
            </a:r>
            <a:r>
              <a:rPr lang="en-US" sz="1600" dirty="0">
                <a:solidFill>
                  <a:schemeClr val="accent3"/>
                </a:solidFill>
              </a:rPr>
              <a:t>invasive and non-invasive tests </a:t>
            </a:r>
            <a:r>
              <a:rPr lang="en-US" sz="1600" dirty="0">
                <a:solidFill>
                  <a:schemeClr val="tx1"/>
                </a:solidFill>
              </a:rPr>
              <a:t>is that invasive tests are done by cutting or entering a body part using medical instruments, whereas non-invasive tests do not require breaking the skin or entering the body</a:t>
            </a:r>
            <a:r>
              <a:rPr lang="en-US" sz="1600" dirty="0" smtClean="0">
                <a:solidFill>
                  <a:schemeClr val="tx1"/>
                </a:solidFill>
              </a:rPr>
              <a:t>.</a:t>
            </a:r>
          </a:p>
          <a:p>
            <a:pPr marL="152400" indent="0" algn="just">
              <a:buNone/>
            </a:pPr>
            <a:endParaRPr lang="en-US" sz="1400" dirty="0" smtClean="0">
              <a:solidFill>
                <a:schemeClr val="tx1"/>
              </a:solidFill>
            </a:endParaRPr>
          </a:p>
          <a:p>
            <a:pPr marL="152400" indent="0">
              <a:buNone/>
            </a:pPr>
            <a:endParaRPr lang="en-US" dirty="0" smtClean="0"/>
          </a:p>
          <a:p>
            <a:pPr marL="152400" indent="0">
              <a:buNone/>
            </a:pPr>
            <a:endParaRPr lang="en-US" dirty="0"/>
          </a:p>
        </p:txBody>
      </p:sp>
    </p:spTree>
    <p:extLst>
      <p:ext uri="{BB962C8B-B14F-4D97-AF65-F5344CB8AC3E}">
        <p14:creationId xmlns="" xmlns:p14="http://schemas.microsoft.com/office/powerpoint/2010/main" val="13262380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EMG</a:t>
            </a:r>
            <a:endParaRPr lang="en-US" dirty="0"/>
          </a:p>
        </p:txBody>
      </p:sp>
      <p:sp>
        <p:nvSpPr>
          <p:cNvPr id="3" name="Text Placeholder 2"/>
          <p:cNvSpPr>
            <a:spLocks noGrp="1"/>
          </p:cNvSpPr>
          <p:nvPr>
            <p:ph type="body" idx="1"/>
          </p:nvPr>
        </p:nvSpPr>
        <p:spPr>
          <a:xfrm>
            <a:off x="720000" y="993728"/>
            <a:ext cx="7704000" cy="405900"/>
          </a:xfrm>
        </p:spPr>
        <p:txBody>
          <a:bodyPr/>
          <a:lstStyle/>
          <a:p>
            <a:pPr algn="just"/>
            <a:r>
              <a:rPr lang="en-US" sz="1600" dirty="0" smtClean="0">
                <a:solidFill>
                  <a:schemeClr val="tx1"/>
                </a:solidFill>
              </a:rPr>
              <a:t>During </a:t>
            </a:r>
            <a:r>
              <a:rPr lang="en-US" sz="1600" dirty="0">
                <a:solidFill>
                  <a:schemeClr val="tx1"/>
                </a:solidFill>
              </a:rPr>
              <a:t>increase the muscle contraction: </a:t>
            </a:r>
          </a:p>
          <a:p>
            <a:pPr lvl="1" algn="just"/>
            <a:r>
              <a:rPr lang="en-US" sz="1600" dirty="0">
                <a:solidFill>
                  <a:schemeClr val="tx1"/>
                </a:solidFill>
              </a:rPr>
              <a:t>Increase frequency of nerve impulses to motor unit </a:t>
            </a:r>
          </a:p>
          <a:p>
            <a:pPr lvl="1" algn="just"/>
            <a:r>
              <a:rPr lang="en-US" sz="1600" dirty="0">
                <a:solidFill>
                  <a:schemeClr val="tx1"/>
                </a:solidFill>
              </a:rPr>
              <a:t>Increase of contracting motor units. </a:t>
            </a:r>
          </a:p>
          <a:p>
            <a:pPr algn="just"/>
            <a:r>
              <a:rPr lang="en-US" sz="1600" dirty="0">
                <a:solidFill>
                  <a:schemeClr val="tx1"/>
                </a:solidFill>
              </a:rPr>
              <a:t>Waves have different shapes because we are using different motor units</a:t>
            </a:r>
            <a:r>
              <a:rPr lang="en-US" sz="1600" dirty="0" smtClean="0">
                <a:solidFill>
                  <a:schemeClr val="tx1"/>
                </a:solidFill>
              </a:rPr>
              <a:t>.</a:t>
            </a:r>
          </a:p>
          <a:p>
            <a:pPr algn="just"/>
            <a:endParaRPr lang="en-US" sz="1600" dirty="0">
              <a:solidFill>
                <a:schemeClr val="tx1"/>
              </a:solidFill>
            </a:endParaRPr>
          </a:p>
          <a:p>
            <a:pPr algn="just"/>
            <a:r>
              <a:rPr lang="en-US" sz="1600" dirty="0" smtClean="0">
                <a:solidFill>
                  <a:schemeClr val="tx1"/>
                </a:solidFill>
              </a:rPr>
              <a:t> </a:t>
            </a:r>
            <a:r>
              <a:rPr lang="en-US" sz="1600" dirty="0">
                <a:solidFill>
                  <a:schemeClr val="tx1"/>
                </a:solidFill>
              </a:rPr>
              <a:t>Not all neurons are the same and not all muscle fibers are created equally</a:t>
            </a:r>
            <a:r>
              <a:rPr lang="en-US" sz="1600" dirty="0" smtClean="0">
                <a:solidFill>
                  <a:schemeClr val="tx1"/>
                </a:solidFill>
              </a:rPr>
              <a:t>.</a:t>
            </a:r>
          </a:p>
          <a:p>
            <a:pPr marL="152400" indent="0" algn="just">
              <a:buNone/>
            </a:pPr>
            <a:r>
              <a:rPr lang="en-US" sz="1600" dirty="0" smtClean="0">
                <a:solidFill>
                  <a:schemeClr val="tx1"/>
                </a:solidFill>
              </a:rPr>
              <a:t> </a:t>
            </a:r>
            <a:endParaRPr lang="en-US" sz="1600" dirty="0">
              <a:solidFill>
                <a:schemeClr val="tx1"/>
              </a:solidFill>
            </a:endParaRPr>
          </a:p>
          <a:p>
            <a:pPr algn="just"/>
            <a:r>
              <a:rPr lang="en-US" sz="1600" dirty="0">
                <a:solidFill>
                  <a:schemeClr val="tx1"/>
                </a:solidFill>
              </a:rPr>
              <a:t>The wave amplitude represents the number of muscle fibers within the </a:t>
            </a:r>
            <a:r>
              <a:rPr lang="en-US" sz="1600" dirty="0" smtClean="0">
                <a:solidFill>
                  <a:schemeClr val="tx1"/>
                </a:solidFill>
              </a:rPr>
              <a:t>unit.</a:t>
            </a:r>
          </a:p>
          <a:p>
            <a:pPr algn="just"/>
            <a:r>
              <a:rPr lang="en-US" sz="1600" dirty="0">
                <a:solidFill>
                  <a:schemeClr val="tx1"/>
                </a:solidFill>
              </a:rPr>
              <a:t>The frequency range of EMG is from 5 Hz – 2KHz and amplitude range from 0.1-5 mV</a:t>
            </a:r>
            <a:r>
              <a:rPr lang="en-US" sz="1600" dirty="0" smtClean="0">
                <a:solidFill>
                  <a:schemeClr val="tx1"/>
                </a:solidFill>
              </a:rPr>
              <a:t>.</a:t>
            </a:r>
          </a:p>
          <a:p>
            <a:pPr marL="152400" indent="0" algn="just">
              <a:buNone/>
            </a:pPr>
            <a:endParaRPr lang="en-US" sz="1600" dirty="0" smtClean="0">
              <a:solidFill>
                <a:schemeClr val="tx1"/>
              </a:solidFill>
            </a:endParaRPr>
          </a:p>
          <a:p>
            <a:pPr algn="just"/>
            <a:r>
              <a:rPr lang="en-US" sz="1600" dirty="0" smtClean="0">
                <a:solidFill>
                  <a:schemeClr val="tx1"/>
                </a:solidFill>
              </a:rPr>
              <a:t>EMG can </a:t>
            </a:r>
            <a:r>
              <a:rPr lang="en-US" sz="1600" dirty="0">
                <a:solidFill>
                  <a:schemeClr val="tx1"/>
                </a:solidFill>
              </a:rPr>
              <a:t>be used to diagnose muscle injury, nerve damage, and muscle dysfunction that happens due to neurological and muscular </a:t>
            </a:r>
            <a:r>
              <a:rPr lang="en-US" sz="1600" dirty="0" smtClean="0">
                <a:solidFill>
                  <a:schemeClr val="tx1"/>
                </a:solidFill>
              </a:rPr>
              <a:t>disorder. </a:t>
            </a:r>
            <a:r>
              <a:rPr lang="en-US" sz="1600" dirty="0">
                <a:solidFill>
                  <a:schemeClr val="tx1"/>
                </a:solidFill>
              </a:rPr>
              <a:t> </a:t>
            </a:r>
          </a:p>
          <a:p>
            <a:pPr marL="152400" indent="0" algn="just">
              <a:buNone/>
            </a:pPr>
            <a:endParaRPr lang="en-US" sz="1600" dirty="0">
              <a:solidFill>
                <a:schemeClr val="tx1"/>
              </a:solidFill>
            </a:endParaRPr>
          </a:p>
          <a:p>
            <a:pPr marL="152400" indent="0" algn="just">
              <a:buNone/>
            </a:pPr>
            <a:endParaRPr lang="en-US" sz="1400" dirty="0" smtClean="0">
              <a:solidFill>
                <a:schemeClr val="tx1"/>
              </a:solidFill>
            </a:endParaRPr>
          </a:p>
          <a:p>
            <a:pPr marL="152400" indent="0">
              <a:buNone/>
            </a:pPr>
            <a:endParaRPr lang="en-US" dirty="0" smtClean="0"/>
          </a:p>
          <a:p>
            <a:pPr marL="152400" indent="0">
              <a:buNone/>
            </a:pPr>
            <a:endParaRPr lang="en-US" dirty="0"/>
          </a:p>
        </p:txBody>
      </p:sp>
    </p:spTree>
    <p:extLst>
      <p:ext uri="{BB962C8B-B14F-4D97-AF65-F5344CB8AC3E}">
        <p14:creationId xmlns="" xmlns:p14="http://schemas.microsoft.com/office/powerpoint/2010/main" val="19588777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EMG</a:t>
            </a:r>
            <a:endParaRPr lang="en-US" dirty="0"/>
          </a:p>
        </p:txBody>
      </p:sp>
      <p:pic>
        <p:nvPicPr>
          <p:cNvPr id="4" name="Picture 3"/>
          <p:cNvPicPr>
            <a:picLocks noChangeAspect="1"/>
          </p:cNvPicPr>
          <p:nvPr/>
        </p:nvPicPr>
        <p:blipFill>
          <a:blip r:embed="rId2"/>
          <a:stretch>
            <a:fillRect/>
          </a:stretch>
        </p:blipFill>
        <p:spPr>
          <a:xfrm>
            <a:off x="1624012" y="1581150"/>
            <a:ext cx="5895975" cy="2145898"/>
          </a:xfrm>
          <a:prstGeom prst="rect">
            <a:avLst/>
          </a:prstGeom>
        </p:spPr>
      </p:pic>
      <p:sp>
        <p:nvSpPr>
          <p:cNvPr id="5" name="Rectangle 4"/>
          <p:cNvSpPr/>
          <p:nvPr/>
        </p:nvSpPr>
        <p:spPr>
          <a:xfrm>
            <a:off x="3755137" y="3921141"/>
            <a:ext cx="1933543" cy="738664"/>
          </a:xfrm>
          <a:prstGeom prst="rect">
            <a:avLst/>
          </a:prstGeom>
        </p:spPr>
        <p:txBody>
          <a:bodyPr wrap="none">
            <a:spAutoFit/>
          </a:bodyPr>
          <a:lstStyle/>
          <a:p>
            <a:r>
              <a:rPr lang="en-US" b="1" dirty="0" smtClean="0"/>
              <a:t>1: resting state.  </a:t>
            </a:r>
          </a:p>
          <a:p>
            <a:r>
              <a:rPr lang="en-US" b="1" dirty="0" smtClean="0"/>
              <a:t>2: Weak contraction.</a:t>
            </a:r>
          </a:p>
          <a:p>
            <a:r>
              <a:rPr lang="en-US" b="1" dirty="0" smtClean="0"/>
              <a:t>3: full activity.</a:t>
            </a:r>
            <a:endParaRPr lang="en-US" b="1" dirty="0"/>
          </a:p>
        </p:txBody>
      </p:sp>
    </p:spTree>
    <p:extLst>
      <p:ext uri="{BB962C8B-B14F-4D97-AF65-F5344CB8AC3E}">
        <p14:creationId xmlns="" xmlns:p14="http://schemas.microsoft.com/office/powerpoint/2010/main" val="21555829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Measuring EMG</a:t>
            </a:r>
            <a:endParaRPr lang="en-US" dirty="0"/>
          </a:p>
        </p:txBody>
      </p:sp>
      <p:pic>
        <p:nvPicPr>
          <p:cNvPr id="1026" name="Picture 2" descr="Electromyography with MyoWare Muscle Sensor &amp; Arduino"/>
          <p:cNvPicPr>
            <a:picLocks noChangeAspect="1" noChangeArrowheads="1"/>
          </p:cNvPicPr>
          <p:nvPr/>
        </p:nvPicPr>
        <p:blipFill>
          <a:blip r:embed="rId2">
            <a:extLst>
              <a:ext uri="{28A0092B-C50C-407E-A947-70E740481C1C}">
                <a14:useLocalDpi xmlns="" xmlns:a14="http://schemas.microsoft.com/office/drawing/2010/main" val="0"/>
              </a:ext>
            </a:extLst>
          </a:blip>
          <a:srcRect/>
          <a:stretch>
            <a:fillRect/>
          </a:stretch>
        </p:blipFill>
        <p:spPr bwMode="auto">
          <a:xfrm>
            <a:off x="914401" y="1354239"/>
            <a:ext cx="7104486" cy="2976462"/>
          </a:xfrm>
          <a:prstGeom prst="rect">
            <a:avLst/>
          </a:prstGeom>
          <a:noFill/>
          <a:extLst>
            <a:ext uri="{909E8E84-426E-40DD-AFC4-6F175D3DCCD1}">
              <a14:hiddenFill xmlns="" xmlns:a14="http://schemas.microsoft.com/office/drawing/2010/main">
                <a:solidFill>
                  <a:srgbClr val="FFFFFF"/>
                </a:solidFill>
              </a14:hiddenFill>
            </a:ext>
          </a:extLst>
        </p:spPr>
      </p:pic>
    </p:spTree>
    <p:extLst>
      <p:ext uri="{BB962C8B-B14F-4D97-AF65-F5344CB8AC3E}">
        <p14:creationId xmlns="" xmlns:p14="http://schemas.microsoft.com/office/powerpoint/2010/main" val="219021691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Measuring EMG</a:t>
            </a:r>
          </a:p>
        </p:txBody>
      </p:sp>
      <p:pic>
        <p:nvPicPr>
          <p:cNvPr id="2050" name="Picture 2" descr="Electromyography With MyoWare Muscle Sensor Arduino, 53% OFF"/>
          <p:cNvPicPr>
            <a:picLocks noChangeAspect="1" noChangeArrowheads="1"/>
          </p:cNvPicPr>
          <p:nvPr/>
        </p:nvPicPr>
        <p:blipFill>
          <a:blip r:embed="rId2">
            <a:extLst>
              <a:ext uri="{28A0092B-C50C-407E-A947-70E740481C1C}">
                <a14:useLocalDpi xmlns="" xmlns:a14="http://schemas.microsoft.com/office/drawing/2010/main" val="0"/>
              </a:ext>
            </a:extLst>
          </a:blip>
          <a:srcRect/>
          <a:stretch>
            <a:fillRect/>
          </a:stretch>
        </p:blipFill>
        <p:spPr bwMode="auto">
          <a:xfrm>
            <a:off x="1647825" y="1179833"/>
            <a:ext cx="5848350" cy="3524251"/>
          </a:xfrm>
          <a:prstGeom prst="rect">
            <a:avLst/>
          </a:prstGeom>
          <a:noFill/>
          <a:extLst>
            <a:ext uri="{909E8E84-426E-40DD-AFC4-6F175D3DCCD1}">
              <a14:hiddenFill xmlns="" xmlns:a14="http://schemas.microsoft.com/office/drawing/2010/main">
                <a:solidFill>
                  <a:srgbClr val="FFFFFF"/>
                </a:solidFill>
              </a14:hiddenFill>
            </a:ext>
          </a:extLst>
        </p:spPr>
      </p:pic>
    </p:spTree>
    <p:extLst>
      <p:ext uri="{BB962C8B-B14F-4D97-AF65-F5344CB8AC3E}">
        <p14:creationId xmlns="" xmlns:p14="http://schemas.microsoft.com/office/powerpoint/2010/main" val="300559155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EMG sensors</a:t>
            </a:r>
            <a:endParaRPr lang="en-US" dirty="0"/>
          </a:p>
        </p:txBody>
      </p:sp>
      <p:pic>
        <p:nvPicPr>
          <p:cNvPr id="4" name="Picture 3"/>
          <p:cNvPicPr>
            <a:picLocks noChangeAspect="1"/>
          </p:cNvPicPr>
          <p:nvPr/>
        </p:nvPicPr>
        <p:blipFill>
          <a:blip r:embed="rId2"/>
          <a:stretch>
            <a:fillRect/>
          </a:stretch>
        </p:blipFill>
        <p:spPr>
          <a:xfrm>
            <a:off x="509587" y="1324878"/>
            <a:ext cx="8124825" cy="3095625"/>
          </a:xfrm>
          <a:prstGeom prst="rect">
            <a:avLst/>
          </a:prstGeom>
        </p:spPr>
      </p:pic>
    </p:spTree>
    <p:extLst>
      <p:ext uri="{BB962C8B-B14F-4D97-AF65-F5344CB8AC3E}">
        <p14:creationId xmlns="" xmlns:p14="http://schemas.microsoft.com/office/powerpoint/2010/main" val="387097390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EMG sensors</a:t>
            </a:r>
            <a:endParaRPr lang="en-US" dirty="0"/>
          </a:p>
        </p:txBody>
      </p:sp>
      <p:pic>
        <p:nvPicPr>
          <p:cNvPr id="4" name="Picture 3"/>
          <p:cNvPicPr>
            <a:picLocks noChangeAspect="1"/>
          </p:cNvPicPr>
          <p:nvPr/>
        </p:nvPicPr>
        <p:blipFill>
          <a:blip r:embed="rId2"/>
          <a:stretch>
            <a:fillRect/>
          </a:stretch>
        </p:blipFill>
        <p:spPr>
          <a:xfrm>
            <a:off x="1539433" y="1191345"/>
            <a:ext cx="5822066" cy="3345932"/>
          </a:xfrm>
          <a:prstGeom prst="rect">
            <a:avLst/>
          </a:prstGeom>
        </p:spPr>
      </p:pic>
    </p:spTree>
    <p:extLst>
      <p:ext uri="{BB962C8B-B14F-4D97-AF65-F5344CB8AC3E}">
        <p14:creationId xmlns="" xmlns:p14="http://schemas.microsoft.com/office/powerpoint/2010/main" val="332404048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MyoWare</a:t>
            </a:r>
            <a:r>
              <a:rPr lang="en-US" dirty="0"/>
              <a:t> Muscle Sensor</a:t>
            </a:r>
            <a:br>
              <a:rPr lang="en-US" dirty="0"/>
            </a:br>
            <a:endParaRPr lang="en-US" dirty="0"/>
          </a:p>
        </p:txBody>
      </p:sp>
      <p:pic>
        <p:nvPicPr>
          <p:cNvPr id="4" name="Picture 3"/>
          <p:cNvPicPr>
            <a:picLocks noChangeAspect="1"/>
          </p:cNvPicPr>
          <p:nvPr/>
        </p:nvPicPr>
        <p:blipFill>
          <a:blip r:embed="rId3"/>
          <a:stretch>
            <a:fillRect/>
          </a:stretch>
        </p:blipFill>
        <p:spPr>
          <a:xfrm>
            <a:off x="3248025" y="1304925"/>
            <a:ext cx="2647950" cy="2533650"/>
          </a:xfrm>
          <a:prstGeom prst="rect">
            <a:avLst/>
          </a:prstGeom>
        </p:spPr>
      </p:pic>
    </p:spTree>
    <p:extLst>
      <p:ext uri="{BB962C8B-B14F-4D97-AF65-F5344CB8AC3E}">
        <p14:creationId xmlns="" xmlns:p14="http://schemas.microsoft.com/office/powerpoint/2010/main" val="44365516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EMG Projects</a:t>
            </a:r>
            <a:endParaRPr lang="en-US" dirty="0"/>
          </a:p>
        </p:txBody>
      </p:sp>
      <p:pic>
        <p:nvPicPr>
          <p:cNvPr id="4" name="Picture 3"/>
          <p:cNvPicPr>
            <a:picLocks noChangeAspect="1"/>
          </p:cNvPicPr>
          <p:nvPr/>
        </p:nvPicPr>
        <p:blipFill>
          <a:blip r:embed="rId3"/>
          <a:stretch>
            <a:fillRect/>
          </a:stretch>
        </p:blipFill>
        <p:spPr>
          <a:xfrm>
            <a:off x="1331932" y="1655843"/>
            <a:ext cx="5924550" cy="1438275"/>
          </a:xfrm>
          <a:prstGeom prst="rect">
            <a:avLst/>
          </a:prstGeom>
        </p:spPr>
      </p:pic>
    </p:spTree>
    <p:extLst>
      <p:ext uri="{BB962C8B-B14F-4D97-AF65-F5344CB8AC3E}">
        <p14:creationId xmlns="" xmlns:p14="http://schemas.microsoft.com/office/powerpoint/2010/main" val="268068364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0942" y="445025"/>
            <a:ext cx="8123058" cy="572700"/>
          </a:xfrm>
        </p:spPr>
        <p:txBody>
          <a:bodyPr/>
          <a:lstStyle/>
          <a:p>
            <a:r>
              <a:rPr lang="en-US" dirty="0"/>
              <a:t>Stress Recognition in Automobile Drivers</a:t>
            </a:r>
            <a:br>
              <a:rPr lang="en-US" dirty="0"/>
            </a:br>
            <a:endParaRPr lang="en-US" dirty="0"/>
          </a:p>
        </p:txBody>
      </p:sp>
      <p:sp>
        <p:nvSpPr>
          <p:cNvPr id="3" name="Text Placeholder 2"/>
          <p:cNvSpPr>
            <a:spLocks noGrp="1"/>
          </p:cNvSpPr>
          <p:nvPr>
            <p:ph type="body" idx="1"/>
          </p:nvPr>
        </p:nvSpPr>
        <p:spPr>
          <a:xfrm>
            <a:off x="720000" y="1100002"/>
            <a:ext cx="7704000" cy="405900"/>
          </a:xfrm>
        </p:spPr>
        <p:txBody>
          <a:bodyPr/>
          <a:lstStyle/>
          <a:p>
            <a:r>
              <a:rPr lang="en-US" dirty="0"/>
              <a:t>This dataset contains a collection of </a:t>
            </a:r>
            <a:r>
              <a:rPr lang="en-US" dirty="0" err="1"/>
              <a:t>multiparameter</a:t>
            </a:r>
            <a:r>
              <a:rPr lang="en-US" dirty="0"/>
              <a:t> recordings from healthy volunteers, taken while they were driving on a prescribed route including city streets and highways in and around Boston, Massachusetts</a:t>
            </a:r>
            <a:r>
              <a:rPr lang="en-US" dirty="0" smtClean="0"/>
              <a:t>.</a:t>
            </a:r>
            <a:r>
              <a:rPr lang="en-US" dirty="0"/>
              <a:t> The objective of the study for which these data were collected was to investigate the feasibility of automated recognition of stress on the basis of the recorded signals, which include ECG, EMG (right </a:t>
            </a:r>
            <a:r>
              <a:rPr lang="en-US" dirty="0" err="1"/>
              <a:t>trapezius</a:t>
            </a:r>
            <a:r>
              <a:rPr lang="en-US" dirty="0"/>
              <a:t>), GSR (galvanic skin resistance) measured on the hand and foot, and respiration</a:t>
            </a:r>
          </a:p>
        </p:txBody>
      </p:sp>
      <p:pic>
        <p:nvPicPr>
          <p:cNvPr id="4" name="Picture 3"/>
          <p:cNvPicPr>
            <a:picLocks noChangeAspect="1"/>
          </p:cNvPicPr>
          <p:nvPr/>
        </p:nvPicPr>
        <p:blipFill>
          <a:blip r:embed="rId3"/>
          <a:stretch>
            <a:fillRect/>
          </a:stretch>
        </p:blipFill>
        <p:spPr>
          <a:xfrm>
            <a:off x="3970116" y="2419109"/>
            <a:ext cx="3574406" cy="2108762"/>
          </a:xfrm>
          <a:prstGeom prst="rect">
            <a:avLst/>
          </a:prstGeom>
        </p:spPr>
      </p:pic>
      <p:sp>
        <p:nvSpPr>
          <p:cNvPr id="5" name="Rectangle 4"/>
          <p:cNvSpPr/>
          <p:nvPr/>
        </p:nvSpPr>
        <p:spPr>
          <a:xfrm>
            <a:off x="1020942" y="4527871"/>
            <a:ext cx="8123058" cy="523220"/>
          </a:xfrm>
          <a:prstGeom prst="rect">
            <a:avLst/>
          </a:prstGeom>
        </p:spPr>
        <p:txBody>
          <a:bodyPr wrap="square">
            <a:spAutoFit/>
          </a:bodyPr>
          <a:lstStyle/>
          <a:p>
            <a:r>
              <a:rPr lang="en-US" dirty="0">
                <a:hlinkClick r:id="rId4"/>
              </a:rPr>
              <a:t>https://</a:t>
            </a:r>
            <a:r>
              <a:rPr lang="en-US" dirty="0" smtClean="0">
                <a:hlinkClick r:id="rId4"/>
              </a:rPr>
              <a:t>www.kaggle.com/datasets/bjoernjostein/stress-recognition-in-automobile-drivers</a:t>
            </a:r>
            <a:endParaRPr lang="en-US" dirty="0" smtClean="0"/>
          </a:p>
          <a:p>
            <a:endParaRPr lang="en-US" dirty="0"/>
          </a:p>
        </p:txBody>
      </p:sp>
    </p:spTree>
    <p:extLst>
      <p:ext uri="{BB962C8B-B14F-4D97-AF65-F5344CB8AC3E}">
        <p14:creationId xmlns="" xmlns:p14="http://schemas.microsoft.com/office/powerpoint/2010/main" val="260066899"/>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39317" y="1830072"/>
            <a:ext cx="7704000" cy="572700"/>
          </a:xfrm>
        </p:spPr>
        <p:txBody>
          <a:bodyPr/>
          <a:lstStyle/>
          <a:p>
            <a:r>
              <a:rPr lang="en-US" dirty="0" smtClean="0"/>
              <a:t>Thanks!</a:t>
            </a:r>
            <a:endParaRPr lang="en-US" dirty="0"/>
          </a:p>
        </p:txBody>
      </p:sp>
    </p:spTree>
    <p:extLst>
      <p:ext uri="{BB962C8B-B14F-4D97-AF65-F5344CB8AC3E}">
        <p14:creationId xmlns="" xmlns:p14="http://schemas.microsoft.com/office/powerpoint/2010/main" val="1265532773"/>
      </p:ext>
    </p:extLst>
  </p:cSld>
  <p:clrMapOvr>
    <a:masterClrMapping/>
  </p:clrMapOvr>
  <p:timing>
    <p:tnLst>
      <p:par>
        <p:cTn id="1" dur="indefinite" restart="never" nodeType="tmRoot"/>
      </p:par>
    </p:tnLst>
  </p:timing>
</p:sld>
</file>

<file path=ppt/theme/theme1.xml><?xml version="1.0" encoding="utf-8"?>
<a:theme xmlns:a="http://schemas.openxmlformats.org/drawingml/2006/main" name="Medical Devices Innovation by Slidesgo">
  <a:themeElements>
    <a:clrScheme name="Simple Light">
      <a:dk1>
        <a:srgbClr val="312D2D"/>
      </a:dk1>
      <a:lt1>
        <a:srgbClr val="F3F3F3"/>
      </a:lt1>
      <a:dk2>
        <a:srgbClr val="CAC6BB"/>
      </a:dk2>
      <a:lt2>
        <a:srgbClr val="7A7879"/>
      </a:lt2>
      <a:accent1>
        <a:srgbClr val="7CC2F8"/>
      </a:accent1>
      <a:accent2>
        <a:srgbClr val="FF6F01"/>
      </a:accent2>
      <a:accent3>
        <a:srgbClr val="F53844"/>
      </a:accent3>
      <a:accent4>
        <a:srgbClr val="FFFFFF"/>
      </a:accent4>
      <a:accent5>
        <a:srgbClr val="FFFFFF"/>
      </a:accent5>
      <a:accent6>
        <a:srgbClr val="FFFFFF"/>
      </a:accent6>
      <a:hlink>
        <a:srgbClr val="312D2D"/>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9137</TotalTime>
  <Words>690</Words>
  <Application>Microsoft Office PowerPoint</Application>
  <PresentationFormat>On-screen Show (16:9)</PresentationFormat>
  <Paragraphs>96</Paragraphs>
  <Slides>20</Slides>
  <Notes>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20</vt:i4>
      </vt:variant>
    </vt:vector>
  </HeadingPairs>
  <TitlesOfParts>
    <vt:vector size="25" baseType="lpstr">
      <vt:lpstr>Arial</vt:lpstr>
      <vt:lpstr>Inter Tight</vt:lpstr>
      <vt:lpstr>Raleway Medium</vt:lpstr>
      <vt:lpstr>Nunito Light</vt:lpstr>
      <vt:lpstr>Medical Devices Innovation by Slidesgo</vt:lpstr>
      <vt:lpstr>Biomedical Data Acquisition Course (BMD351)</vt:lpstr>
      <vt:lpstr>Slide 2</vt:lpstr>
      <vt:lpstr>Biomedical Signals</vt:lpstr>
      <vt:lpstr>Muscle Signals</vt:lpstr>
      <vt:lpstr>Bio-Electric Signals  </vt:lpstr>
      <vt:lpstr>Introduction</vt:lpstr>
      <vt:lpstr>Introduction</vt:lpstr>
      <vt:lpstr>Introduction</vt:lpstr>
      <vt:lpstr>EMG</vt:lpstr>
      <vt:lpstr>EMG</vt:lpstr>
      <vt:lpstr>EMG</vt:lpstr>
      <vt:lpstr>EMG</vt:lpstr>
      <vt:lpstr>Measuring EMG</vt:lpstr>
      <vt:lpstr>Measuring EMG</vt:lpstr>
      <vt:lpstr>EMG sensors</vt:lpstr>
      <vt:lpstr>EMG sensors</vt:lpstr>
      <vt:lpstr>MyoWare Muscle Sensor </vt:lpstr>
      <vt:lpstr>EMG Projects</vt:lpstr>
      <vt:lpstr>Stress Recognition in Automobile Drivers </vt:lpstr>
      <vt:lpstr>Thanks!</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Medical Devices Innovation</dc:title>
  <dc:creator>Sara El-Metwally</dc:creator>
  <cp:lastModifiedBy>Sara</cp:lastModifiedBy>
  <cp:revision>109</cp:revision>
  <dcterms:modified xsi:type="dcterms:W3CDTF">2023-10-24T20:11:21Z</dcterms:modified>
</cp:coreProperties>
</file>